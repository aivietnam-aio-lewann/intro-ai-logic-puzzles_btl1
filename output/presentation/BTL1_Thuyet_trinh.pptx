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fb2c19f915a4cfe" /><Relationship Type="http://schemas.openxmlformats.org/officeDocument/2006/relationships/extended-properties" Target="/docProps/app.xml" Id="R495ce8cd3d4847be" /><Relationship Type="http://schemas.openxmlformats.org/officeDocument/2006/relationships/officeDocument" Target="/ppt/presentation.xml" Id="Rc9654579c3a34582" /></Relationships>
</file>

<file path=ppt/presentation.xml><?xml version="1.0" encoding="utf-8"?>
<p:presentation xmlns:p="http://schemas.openxmlformats.org/presentationml/2006/main">
  <p:sldMasterIdLst>
    <p:sldMasterId xmlns:r="http://schemas.openxmlformats.org/officeDocument/2006/relationships" id="2147483648" r:id="R0455dfae95a04fb7"/>
  </p:sldMasterIdLst>
  <p:notesMasterIdLst>
    <p:notesMasterId xmlns:r="http://schemas.openxmlformats.org/officeDocument/2006/relationships" r:id="R7c4376193b6247f5"/>
  </p:notesMasterIdLst>
  <p:sldIdLst>
    <p:sldId xmlns:r="http://schemas.openxmlformats.org/officeDocument/2006/relationships" id="256" r:id="R1c9830b4ef844904"/>
    <p:sldId xmlns:r="http://schemas.openxmlformats.org/officeDocument/2006/relationships" id="257" r:id="R36d79cbf114a461e"/>
    <p:sldId xmlns:r="http://schemas.openxmlformats.org/officeDocument/2006/relationships" id="258" r:id="R94e77f5f5ff64f13"/>
    <p:sldId xmlns:r="http://schemas.openxmlformats.org/officeDocument/2006/relationships" id="259" r:id="Rf094a443c6314308"/>
    <p:sldId xmlns:r="http://schemas.openxmlformats.org/officeDocument/2006/relationships" id="260" r:id="Rbad68dc887634e84"/>
    <p:sldId xmlns:r="http://schemas.openxmlformats.org/officeDocument/2006/relationships" id="261" r:id="R3ca5ceffccc64dff"/>
    <p:sldId xmlns:r="http://schemas.openxmlformats.org/officeDocument/2006/relationships" id="262" r:id="Rbf9bd18723b74cbe"/>
    <p:sldId xmlns:r="http://schemas.openxmlformats.org/officeDocument/2006/relationships" id="263" r:id="Rf10892f936d04e2e"/>
    <p:sldId xmlns:r="http://schemas.openxmlformats.org/officeDocument/2006/relationships" id="264" r:id="R901ce541c7064dc2"/>
    <p:sldId xmlns:r="http://schemas.openxmlformats.org/officeDocument/2006/relationships" id="265" r:id="R0f3f6338003647c5"/>
    <p:sldId xmlns:r="http://schemas.openxmlformats.org/officeDocument/2006/relationships" id="266" r:id="Rca4a024f28104fad"/>
    <p:sldId xmlns:r="http://schemas.openxmlformats.org/officeDocument/2006/relationships" id="267" r:id="Ra687d86fc42c45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2d409af220493b" /><Relationship Type="http://schemas.openxmlformats.org/officeDocument/2006/relationships/slideMaster" Target="/ppt/slideMasters/slideMaster1.xml" Id="R0455dfae95a04fb7" /><Relationship Type="http://schemas.openxmlformats.org/officeDocument/2006/relationships/notesMaster" Target="/ppt/notesMasters/notesMaster1.xml" Id="R7c4376193b6247f5" /><Relationship Type="http://schemas.openxmlformats.org/officeDocument/2006/relationships/presProps" Target="/ppt/presProps.xml" Id="Rf7a9db94f4434380" /><Relationship Type="http://schemas.openxmlformats.org/officeDocument/2006/relationships/tableStyles" Target="/ppt/tableStyles.xml" Id="R22b4017a7cfb473d" /><Relationship Type="http://schemas.openxmlformats.org/officeDocument/2006/relationships/slide" Target="/ppt/slides/slide1.xml" Id="R1c9830b4ef844904" /><Relationship Type="http://schemas.openxmlformats.org/officeDocument/2006/relationships/slide" Target="/ppt/slides/slide2.xml" Id="R36d79cbf114a461e" /><Relationship Type="http://schemas.openxmlformats.org/officeDocument/2006/relationships/slide" Target="/ppt/slides/slide3.xml" Id="R94e77f5f5ff64f13" /><Relationship Type="http://schemas.openxmlformats.org/officeDocument/2006/relationships/slide" Target="/ppt/slides/slide4.xml" Id="Rf094a443c6314308" /><Relationship Type="http://schemas.openxmlformats.org/officeDocument/2006/relationships/slide" Target="/ppt/slides/slide5.xml" Id="Rbad68dc887634e84" /><Relationship Type="http://schemas.openxmlformats.org/officeDocument/2006/relationships/slide" Target="/ppt/slides/slide6.xml" Id="R3ca5ceffccc64dff" /><Relationship Type="http://schemas.openxmlformats.org/officeDocument/2006/relationships/slide" Target="/ppt/slides/slide7.xml" Id="Rbf9bd18723b74cbe" /><Relationship Type="http://schemas.openxmlformats.org/officeDocument/2006/relationships/slide" Target="/ppt/slides/slide8.xml" Id="Rf10892f936d04e2e" /><Relationship Type="http://schemas.openxmlformats.org/officeDocument/2006/relationships/slide" Target="/ppt/slides/slide9.xml" Id="R901ce541c7064dc2" /><Relationship Type="http://schemas.openxmlformats.org/officeDocument/2006/relationships/slide" Target="/ppt/slides/slide10.xml" Id="R0f3f6338003647c5" /><Relationship Type="http://schemas.openxmlformats.org/officeDocument/2006/relationships/slide" Target="/ppt/slides/slide11.xml" Id="Rca4a024f28104fad" /><Relationship Type="http://schemas.openxmlformats.org/officeDocument/2006/relationships/slide" Target="/ppt/slides/slide12.xml" Id="Ra687d86fc42c45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063c7f810147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0df88a718d486c" /><Relationship Type="http://schemas.openxmlformats.org/officeDocument/2006/relationships/notesMaster" Target="/ppt/notesMasters/notesMaster1.xml" Id="R8282cf43141f40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9cd609f0e9475d" /><Relationship Type="http://schemas.openxmlformats.org/officeDocument/2006/relationships/notesMaster" Target="/ppt/notesMasters/notesMaster1.xml" Id="R7155950a070348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4969b2b2ad4aa3" /><Relationship Type="http://schemas.openxmlformats.org/officeDocument/2006/relationships/notesMaster" Target="/ppt/notesMasters/notesMaster1.xml" Id="Rbb4a79a344ba43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ccd9c9d1f94481" /><Relationship Type="http://schemas.openxmlformats.org/officeDocument/2006/relationships/notesMaster" Target="/ppt/notesMasters/notesMaster1.xml" Id="R17ea3bfef10b48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82a3e8ce31447e" /><Relationship Type="http://schemas.openxmlformats.org/officeDocument/2006/relationships/notesMaster" Target="/ppt/notesMasters/notesMaster1.xml" Id="R05038ed023b74f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219a4b59954223" /><Relationship Type="http://schemas.openxmlformats.org/officeDocument/2006/relationships/notesMaster" Target="/ppt/notesMasters/notesMaster1.xml" Id="R0f099c570aaf4a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a326e0c9c447c9" /><Relationship Type="http://schemas.openxmlformats.org/officeDocument/2006/relationships/notesMaster" Target="/ppt/notesMasters/notesMaster1.xml" Id="R62bf5fa0f23c46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7201cd5fc74907" /><Relationship Type="http://schemas.openxmlformats.org/officeDocument/2006/relationships/notesMaster" Target="/ppt/notesMasters/notesMaster1.xml" Id="R1ce944c0792949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7662523cc94791" /><Relationship Type="http://schemas.openxmlformats.org/officeDocument/2006/relationships/notesMaster" Target="/ppt/notesMasters/notesMaster1.xml" Id="Rd75c17a368a74f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d618aa0c874101" /><Relationship Type="http://schemas.openxmlformats.org/officeDocument/2006/relationships/notesMaster" Target="/ppt/notesMasters/notesMaster1.xml" Id="R1e6cebc4bb1b42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12e2035a2f4f64" /><Relationship Type="http://schemas.openxmlformats.org/officeDocument/2006/relationships/notesMaster" Target="/ppt/notesMasters/notesMaster1.xml" Id="Ra7ef31e801b74a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ac97b67aec4ffe" /><Relationship Type="http://schemas.openxmlformats.org/officeDocument/2006/relationships/notesMaster" Target="/ppt/notesMasters/notesMaster1.xml" Id="R6efa93a13f8145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hai bài toán và hai chính sách tìm kiếm. Python 3 xử lý toàn bộ search và luật; giao diện chỉ hỗ trợ tương tác. Không tuyên bố tối ưu số nước đi.</a:t>
            </a:r>
          </a:p>
          <a:p xmlns:a="http://schemas.openxmlformats.org/drawingml/2006/main">
            <a:r>
              <a:t/>
            </a:r>
          </a:p>
          <a:p xmlns:a="http://schemas.openxmlformats.org/drawingml/2006/main">
            <a:r>
              <a:t>Nguồn: docs/REPORT.md; results/benchmark.json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ô là một đỉnh của đồ thị. Chỉ tạo cạnh khi hai đầu nối khớp. Nghiệm là cây bao trùm các ô, đồng thời không có đầu hở hoặc nối ra ngoài biên. Ứng dụng chọn bản không nối xuyên biên.</a:t>
            </a:r>
          </a:p>
          <a:p xmlns:a="http://schemas.openxmlformats.org/drawingml/2006/main">
            <a:r>
              <a:t/>
            </a:r>
          </a:p>
          <a:p xmlns:a="http://schemas.openxmlformats.org/drawingml/2006/main">
            <a:r>
              <a:t>Nguồn: https://www.puzzle-pipes.com/ (25/10/2026); logic_lab/games/pipes.py; docs/images/pipes.png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Đèn chỉ đặt trên ô trắng. Ô đen chặn tia sáng, ô số yêu cầu số đèn kề cạnh chính xác. Hai tia sáng có thể giao nhau nhưng hai đèn không được nhìn nhau. Dấu X không chặn ánh sáng.</a:t>
            </a:r>
          </a:p>
          <a:p xmlns:a="http://schemas.openxmlformats.org/drawingml/2006/main">
            <a:r>
              <a:t/>
            </a:r>
          </a:p>
          <a:p xmlns:a="http://schemas.openxmlformats.org/drawingml/2006/main">
            <a:r>
              <a:t>Nguồn: https://www.puzzle-light-up.com/ (25/10/2026); logic_lab/games/lightup.py; docs/images/lightup.png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chính sách lấy node khỏi frontier. Hai bên có cùng trạng thái đầu, thứ tự chọn biến, thứ tự giá trị và cắt nhánh. DFS không sắp xếp theo heuristic. Có ngân sách nên limit là chưa biết; chỉ duyệt hết frontier mới chứng minh unsat.</a:t>
            </a:r>
          </a:p>
          <a:p xmlns:a="http://schemas.openxmlformats.org/drawingml/2006/main">
            <a:r>
              <a:t/>
            </a:r>
          </a:p>
          <a:p xmlns:a="http://schemas.openxmlformats.org/drawingml/2006/main">
            <a:r>
              <a:t>Nguồn: docs/REPORT.md; results/benchmark.json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Tuple gồm hướng đã gán hoặc 0 cho chưa gán. Các hướng đối xứng được loại trùng. Một bước search gán một ô, có thể tương đương nhiều lần xoay trên UI. Điểm h xếp hạng theo số biến chưa gán và kích thước miền; không là cận tối ưu thao tác.</a:t>
            </a:r>
          </a:p>
          <a:p xmlns:a="http://schemas.openxmlformats.org/drawingml/2006/main">
            <a:r>
              <a:t/>
            </a:r>
          </a:p>
          <a:p xmlns:a="http://schemas.openxmlformats.org/drawingml/2006/main">
            <a:r>
              <a:t>Nguồn: docs/REPORT.md; results/benchmark.json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Chỉ ô trắng là biến -1/0/1. Tiền xử lý tập nhìn thấy. Thử không đèn trước, có đèn sau nếu còn hợp lệ. Đích có thể đạt khi còn biến -1, hiểu là không đặt thêm đèn. Một bóng đèn thỏa nhiều mục tiêu nên h có thể đếm chồng.</a:t>
            </a:r>
          </a:p>
          <a:p xmlns:a="http://schemas.openxmlformats.org/drawingml/2006/main">
            <a:r>
              <a:t/>
            </a:r>
          </a:p>
          <a:p xmlns:a="http://schemas.openxmlformats.org/drawingml/2006/main">
            <a:r>
              <a:t>Nguồn: docs/REPORT.md; results/benchmark.json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phát tối đa 350 trạng thái lấy ra khỏi frontier. Đây không phải đường nghiệm: trạng thái liền nhau có thể là nhánh khác nhau. Nghiệm cuối nằm ở nút riêng. Bảng người chơi không đổi khi xem demo; ống mờ là hướng minh họa chưa được gán.</a:t>
            </a:r>
          </a:p>
          <a:p xmlns:a="http://schemas.openxmlformats.org/drawingml/2006/main">
            <a:r>
              <a:t/>
            </a:r>
          </a:p>
          <a:p xmlns:a="http://schemas.openxmlformats.org/drawingml/2006/main">
            <a:r>
              <a:t>Nguồn: web/app.js; logic_lab/search.py; docs/images/demo.png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 input gồm 8 màn chơi và 18 input: hai game x kích thước 4,6,8 x seed 101,102,103. Mỗi tổ hợp warm-up rồi 7 mẫu thời gian, lấy median; memory chạy riêng sau gc.collect. Cả 364 lượt time và 52 lượt memory solved và được check. Đo search không gồm khởi tạo/HTTP/UI/trace. Các khác biệt rất nhỏ có thể là nhiễu.</a:t>
            </a:r>
          </a:p>
          <a:p xmlns:a="http://schemas.openxmlformats.org/drawingml/2006/main">
            <a:r>
              <a:t/>
            </a:r>
          </a:p>
          <a:p xmlns:a="http://schemas.openxmlformats.org/drawingml/2006/main">
            <a:r>
              <a:t>Nguồn: docs/REPORT.md; results/benchmark.json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hiển thị bốn màn tương tác và một input 8x8, không thay cho bảng toàn bộ trong phụ lục báo cáo. Trên 13 input Pipes, DFS xét 453 trạng thái, Greedy 455. Nhiều miền chỉ còn một giá trị nên heuristic ít đổi thứ tự. Tổng median từng input DFS 49.331 ms, Greedy 53.001 ms. Không suy rộng từ chênh lệch nhỏ.</a:t>
            </a:r>
          </a:p>
          <a:p xmlns:a="http://schemas.openxmlformats.org/drawingml/2006/main">
            <a:r>
              <a:t/>
            </a:r>
          </a:p>
          <a:p xmlns:a="http://schemas.openxmlformats.org/drawingml/2006/main">
            <a:r>
              <a:t>Nguồn: docs/REPORT.md; results/benchmark.json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Bảng trích toàn bộ bốn màn tương tác và ba input 8x8. Bảng 13 input đầy đủ nằm trong phụ lục. Seed 102 là trường hợp Greedy có lợi rõ; lightup-7 là phản ví dụ. Peak cấp phát bao gồm cấu trúc được tạo trong search và không đồng nhất frontier_peak.</a:t>
            </a:r>
          </a:p>
          <a:p xmlns:a="http://schemas.openxmlformats.org/drawingml/2006/main">
            <a:r>
              <a:t/>
            </a:r>
          </a:p>
          <a:p xmlns:a="http://schemas.openxmlformats.org/drawingml/2006/main">
            <a:r>
              <a:t>Nguồn: docs/REPORT.md; results/benchmark.json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số trạng thái xét, hai thang trục độc lập: không so độ cao cột giữa hai biểu đồ. Lightup-7: DFS 51, Greedy142; seed102: DFS1584, Greedy68. Heuristic không biết toàn bộ tương tác ràng buộc tương lai nên giảm h cục bộ không đảm bảo ít node hơn.</a:t>
            </a:r>
          </a:p>
          <a:p xmlns:a="http://schemas.openxmlformats.org/drawingml/2006/main">
            <a:r>
              <a:t/>
            </a:r>
          </a:p>
          <a:p xmlns:a="http://schemas.openxmlformats.org/drawingml/2006/main">
            <a:r>
              <a:t>Nguồn: docs/REPORT.md; results/benchmark.json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Chạy python app.py. Demo 1: Pipes chọn DFS, xem vài trạng thái và nghiệm cuối. Demo 2: LightUp3 đặt đèn cạnh số0, xin gợi ý sửa, áp dụng rồi giải tiếp. Kết thúc bằng so sánh hai case heuristic. 47 unit tests và 800 so luật, Chromium thực tế; không khẳng định không còn lỗi. Chưa kiểm Safari/Firefox hay cảm ứng vật lý. Thông tin nhóm cần bổ sung trước nộp.</a:t>
            </a:r>
          </a:p>
          <a:p xmlns:a="http://schemas.openxmlformats.org/drawingml/2006/main">
            <a:r>
              <a:t/>
            </a:r>
          </a:p>
          <a:p xmlns:a="http://schemas.openxmlformats.org/drawingml/2006/main">
            <a:r>
              <a:t>Nguồn: tests/; docs/QA_RESULTS.md; https://www.puzzle-pipes.com/; https://www.puzzle-light-up.com/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6b799f08274d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363875cd1446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9575ed127644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ca82de9b2948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36aba6345f4b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481519527644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D4A7AB-95BC-42C0-9F75-F259AF0B95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09B1F7F-4E6C-420A-A72C-0906E9E5F7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DBCA61-7035-431E-8B01-9767B0F998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504A7A-1F92-4CA9-BB63-18D0C1CA22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803A0B-5BBF-43EA-B725-53DF1BE958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A276238-8962-45E5-BC98-F260DF6DFB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6AF142-C139-4807-825C-6722F8E0B5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18C5DDC-5FA0-4CE9-A1E3-3804870DBC3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7104AB-ACB7-4267-B4A7-9FD61BC5D3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7F9FB7-89B1-45B9-BFC1-CF22888E97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a3700e5c6d4656" /><Relationship Type="http://schemas.openxmlformats.org/officeDocument/2006/relationships/slideLayout" Target="/ppt/slideLayouts/slideLayout1.xml" Id="Rd06ec70b8621490b" /><Relationship Type="http://schemas.openxmlformats.org/officeDocument/2006/relationships/slideLayout" Target="/ppt/slideLayouts/slideLayout2.xml" Id="R0359dda9335e49ba" /><Relationship Type="http://schemas.openxmlformats.org/officeDocument/2006/relationships/slideLayout" Target="/ppt/slideLayouts/slideLayout3.xml" Id="Rf7496fdb3ee54198" /><Relationship Type="http://schemas.openxmlformats.org/officeDocument/2006/relationships/slideLayout" Target="/ppt/slideLayouts/slideLayout4.xml" Id="Rec6c0fc85db44124" /><Relationship Type="http://schemas.openxmlformats.org/officeDocument/2006/relationships/slideLayout" Target="/ppt/slideLayouts/slideLayout5.xml" Id="Re691deb7addf44b2" /><Relationship Type="http://schemas.openxmlformats.org/officeDocument/2006/relationships/slideLayout" Target="/ppt/slideLayouts/slideLayout6.xml" Id="Rbb2fbb97dab547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6ec70b8621490b"/>
    <p:sldLayoutId xmlns:r="http://schemas.openxmlformats.org/officeDocument/2006/relationships" id="2147483650" r:id="R0359dda9335e49ba"/>
    <p:sldLayoutId xmlns:r="http://schemas.openxmlformats.org/officeDocument/2006/relationships" id="2147483651" r:id="Rf7496fdb3ee54198"/>
    <p:sldLayoutId xmlns:r="http://schemas.openxmlformats.org/officeDocument/2006/relationships" id="2147483652" r:id="Rec6c0fc85db44124"/>
    <p:sldLayoutId xmlns:r="http://schemas.openxmlformats.org/officeDocument/2006/relationships" id="2147483653" r:id="Re691deb7addf44b2"/>
    <p:sldLayoutId xmlns:r="http://schemas.openxmlformats.org/officeDocument/2006/relationships" id="2147483654" r:id="Rbb2fbb97dab547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95bc324de3c44af" /><Relationship Type="http://schemas.openxmlformats.org/officeDocument/2006/relationships/notesSlide" Target="/ppt/notesSlides/notesSlide1.xml" Id="Rc5052797c77e41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b2580e9618a4689" /><Relationship Type="http://schemas.openxmlformats.org/officeDocument/2006/relationships/image" Target="/ppt/media/image.png" Id="R9f253d7433d1465f" /><Relationship Type="http://schemas.openxmlformats.org/officeDocument/2006/relationships/notesSlide" Target="/ppt/notesSlides/notesSlide2.xml" Id="R585031881b394f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3b5f77130b4604" /><Relationship Type="http://schemas.openxmlformats.org/officeDocument/2006/relationships/image" Target="/ppt/media/image2.png" Id="R9d14f3cee51e49f9" /><Relationship Type="http://schemas.openxmlformats.org/officeDocument/2006/relationships/notesSlide" Target="/ppt/notesSlides/notesSlide3.xml" Id="R050e5f5ebf384c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760834cc204703" /><Relationship Type="http://schemas.openxmlformats.org/officeDocument/2006/relationships/notesSlide" Target="/ppt/notesSlides/notesSlide4.xml" Id="R8c4c8edf1e734a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d29befc158c46df" /><Relationship Type="http://schemas.openxmlformats.org/officeDocument/2006/relationships/notesSlide" Target="/ppt/notesSlides/notesSlide5.xml" Id="R594e4978983e4b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c9f21258de40ef" /><Relationship Type="http://schemas.openxmlformats.org/officeDocument/2006/relationships/notesSlide" Target="/ppt/notesSlides/notesSlide6.xml" Id="R44b87fb779c44a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558ad7cb784877" /><Relationship Type="http://schemas.openxmlformats.org/officeDocument/2006/relationships/image" Target="/ppt/media/image3.png" Id="R91aee73e001b469d" /><Relationship Type="http://schemas.openxmlformats.org/officeDocument/2006/relationships/notesSlide" Target="/ppt/notesSlides/notesSlide7.xml" Id="Rd26e5062e9dc4f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cd827292284a8b" /><Relationship Type="http://schemas.openxmlformats.org/officeDocument/2006/relationships/notesSlide" Target="/ppt/notesSlides/notesSlide8.xml" Id="R2a8f6b02585942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3b9bbb440a8425e" /><Relationship Type="http://schemas.openxmlformats.org/officeDocument/2006/relationships/notesSlide" Target="/ppt/notesSlides/notesSlide9.xml" Id="R80580c47acf442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6a14ff41f94c14" /><Relationship Type="http://schemas.openxmlformats.org/officeDocument/2006/relationships/notesSlide" Target="/ppt/notesSlides/notesSlide10.xml" Id="Radd417e476c64a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8a75e0ab2144430" /><Relationship Type="http://schemas.openxmlformats.org/officeDocument/2006/relationships/chart" Target="/ppt/slides/charts/chart1.xml" Id="R4bd03fe190cb4b77" /><Relationship Type="http://schemas.openxmlformats.org/officeDocument/2006/relationships/chart" Target="/ppt/slides/charts/chart2.xml" Id="R33914fa6390e4d4e" /><Relationship Type="http://schemas.openxmlformats.org/officeDocument/2006/relationships/notesSlide" Target="/ppt/notesSlides/notesSlide11.xml" Id="Rc31ca945b50c4a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65af74699945be" /><Relationship Type="http://schemas.openxmlformats.org/officeDocument/2006/relationships/notesSlide" Target="/ppt/notesSlides/notesSlide12.xml" Id="Rf1538410059445d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Trạng thái đã xét</c:v>
          </c:tx>
          <c:spPr>
            <a:solidFill xmlns:a="http://schemas.openxmlformats.org/drawingml/2006/main">
              <a:srgbClr val="244E42"/>
            </a:solidFill>
          </c:spPr>
          <c:invertIfNegative val="0"/>
          <c:cat>
            <c:strRef>
              <c:f>'Chart Data'!$A$2:$A$3</c:f>
              <c:strCache>
                <c:ptCount val="2"/>
                <c:pt idx="0">
                  <c:v>DFS</c:v>
                </c:pt>
                <c:pt idx="1">
                  <c:v>Greedy</c:v>
                </c:pt>
              </c:strCache>
            </c:strRef>
          </c:cat>
          <c:val>
            <c:numRef>
              <c:f>'Chart Data'!$B$2:$B$3</c:f>
              <c:numCache>
                <c:formatCode>General</c:formatCode>
                <c:ptCount val="2"/>
                <c:pt idx="0">
                  <c:v>51</c:v>
                </c:pt>
                <c:pt idx="1">
                  <c:v>142</c:v>
                </c:pt>
              </c:numCache>
            </c:numRef>
          </c:val>
        </c:ser>
        <c:dLbls>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7F8F2"/>
        </a:solidFill>
      </c:spPr>
    </c:plotArea>
    <c:plotVisOnly val="1"/>
  </c:chart>
  <c:spPr>
    <a:solidFill xmlns:a="http://schemas.openxmlformats.org/drawingml/2006/main">
      <a:srgbClr val="F7F8F2"/>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Trạng thái đã xét</c:v>
          </c:tx>
          <c:spPr>
            <a:solidFill xmlns:a="http://schemas.openxmlformats.org/drawingml/2006/main">
              <a:srgbClr val="244E42"/>
            </a:solidFill>
          </c:spPr>
          <c:invertIfNegative val="0"/>
          <c:cat>
            <c:strRef>
              <c:f>'Chart Data'!$A$2:$A$3</c:f>
              <c:strCache>
                <c:ptCount val="2"/>
                <c:pt idx="0">
                  <c:v>DFS</c:v>
                </c:pt>
                <c:pt idx="1">
                  <c:v>Greedy</c:v>
                </c:pt>
              </c:strCache>
            </c:strRef>
          </c:cat>
          <c:val>
            <c:numRef>
              <c:f>'Chart Data'!$B$2:$B$3</c:f>
              <c:numCache>
                <c:formatCode>General</c:formatCode>
                <c:ptCount val="2"/>
                <c:pt idx="0">
                  <c:v>1584</c:v>
                </c:pt>
                <c:pt idx="1">
                  <c:v>68</c:v>
                </c:pt>
              </c:numCache>
            </c:numRef>
          </c:val>
        </c:ser>
        <c:dLbls>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F7F8F2"/>
        </a:solidFill>
      </c:spPr>
    </c:plotArea>
    <c:plotVisOnly val="1"/>
  </c:chart>
  <c:spPr>
    <a:solidFill xmlns:a="http://schemas.openxmlformats.org/drawingml/2006/main">
      <a:srgbClr val="F7F8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46F67E-4DF4-49E5-A1ED-20856BCF5770}"/>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Mạch - Logic Lab</a:t>
            </a:r>
          </a:p>
        </p:txBody>
      </p:sp>
      <p:sp>
        <p:nvSpPr>
          <p:cNvPr id="2" name="">
            <a:extLst xmlns:a="http://schemas.openxmlformats.org/drawingml/2006/main">
              <a:ext uri="{FF2B5EF4-FFF2-40B4-BE49-F238E27FC236}">
                <a16:creationId xmlns:a16="http://schemas.microsoft.com/office/drawing/2014/main" id="{CF5536B8-43FE-4E34-8388-566DEDE9CBC2}"/>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01</a:t>
            </a:r>
          </a:p>
        </p:txBody>
      </p:sp>
      <p:sp>
        <p:nvSpPr>
          <p:cNvPr id="3" name="">
            <a:extLst xmlns:a="http://schemas.openxmlformats.org/drawingml/2006/main">
              <a:ext uri="{FF2B5EF4-FFF2-40B4-BE49-F238E27FC236}">
                <a16:creationId xmlns:a16="http://schemas.microsoft.com/office/drawing/2014/main" id="{7006790B-780F-40F2-B7A6-552D4D4D97BB}"/>
              </a:ext>
            </a:extLst>
          </p:cNvPr>
          <p:cNvSpPr>
            <a:spLocks xmlns:a="http://schemas.openxmlformats.org/drawingml/2006/main" noGrp="1"/>
          </p:cNvSpPr>
          <p:nvPr/>
        </p:nvSpPr>
        <p:spPr>
          <a:xfrm xmlns:a="http://schemas.openxmlformats.org/drawingml/2006/main">
            <a:off x="609600" y="1952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203D35"/>
                </a:solidFill>
                <a:latin typeface="Arial"/>
                <a:ea typeface="Arial"/>
                <a:cs typeface="Arial"/>
              </a:defRPr>
            </a:defPPr>
            <a:lvl1pPr>
              <a:defRPr sz="5700" b="1">
                <a:solidFill>
                  <a:srgbClr val="203D35"/>
                </a:solidFill>
                <a:latin typeface="Arial"/>
                <a:ea typeface="Arial"/>
                <a:cs typeface="Arial"/>
              </a:defRPr>
            </a:lvl1pPr>
            <a:lvl2pPr>
              <a:defRPr sz="5700" b="1">
                <a:solidFill>
                  <a:srgbClr val="203D35"/>
                </a:solidFill>
                <a:latin typeface="Arial"/>
                <a:ea typeface="Arial"/>
                <a:cs typeface="Arial"/>
              </a:defRPr>
            </a:lvl2pPr>
            <a:lvl3pPr>
              <a:defRPr sz="5700" b="1">
                <a:solidFill>
                  <a:srgbClr val="203D35"/>
                </a:solidFill>
                <a:latin typeface="Arial"/>
                <a:ea typeface="Arial"/>
                <a:cs typeface="Arial"/>
              </a:defRPr>
            </a:lvl3pPr>
            <a:lvl4pPr>
              <a:defRPr sz="5700" b="1">
                <a:solidFill>
                  <a:srgbClr val="203D35"/>
                </a:solidFill>
                <a:latin typeface="Arial"/>
                <a:ea typeface="Arial"/>
                <a:cs typeface="Arial"/>
              </a:defRPr>
            </a:lvl4pPr>
            <a:lvl5pPr>
              <a:defRPr sz="5700" b="1">
                <a:solidFill>
                  <a:srgbClr val="203D35"/>
                </a:solidFill>
                <a:latin typeface="Arial"/>
                <a:ea typeface="Arial"/>
                <a:cs typeface="Arial"/>
              </a:defRPr>
            </a:lvl5pPr>
            <a:lvl6pPr>
              <a:defRPr sz="5700" b="1">
                <a:solidFill>
                  <a:srgbClr val="203D35"/>
                </a:solidFill>
                <a:latin typeface="Arial"/>
                <a:ea typeface="Arial"/>
                <a:cs typeface="Arial"/>
              </a:defRPr>
            </a:lvl6pPr>
            <a:lvl7pPr>
              <a:defRPr sz="5700" b="1">
                <a:solidFill>
                  <a:srgbClr val="203D35"/>
                </a:solidFill>
                <a:latin typeface="Arial"/>
                <a:ea typeface="Arial"/>
                <a:cs typeface="Arial"/>
              </a:defRPr>
            </a:lvl7pPr>
            <a:lvl8pPr>
              <a:defRPr sz="5700" b="1">
                <a:solidFill>
                  <a:srgbClr val="203D35"/>
                </a:solidFill>
                <a:latin typeface="Arial"/>
                <a:ea typeface="Arial"/>
                <a:cs typeface="Arial"/>
              </a:defRPr>
            </a:lvl8pPr>
            <a:lvl9pPr>
              <a:defRPr sz="5700" b="1">
                <a:solidFill>
                  <a:srgbClr val="203D35"/>
                </a:solidFill>
                <a:latin typeface="Arial"/>
                <a:ea typeface="Arial"/>
                <a:cs typeface="Arial"/>
              </a:defRPr>
            </a:lvl9pPr>
          </a:lstStyle>
          <a:p xmlns:a="http://schemas.openxmlformats.org/drawingml/2006/main">
            <a:pPr>
              <a:defRPr sz="5700" b="1">
                <a:solidFill>
                  <a:srgbClr val="203D35"/>
                </a:solidFill>
                <a:latin typeface="Arial"/>
                <a:ea typeface="Arial"/>
                <a:cs typeface="Arial"/>
              </a:defRPr>
            </a:pPr>
            <a:r>
              <a:rPr sz="5700" b="1">
                <a:solidFill>
                  <a:srgbClr val="203D35"/>
                </a:solidFill>
                <a:latin typeface="Arial"/>
                <a:ea typeface="Arial"/>
                <a:cs typeface="Arial"/>
              </a:rPr>
              <a:t>Pipes &amp; Light Up</a:t>
            </a:r>
          </a:p>
        </p:txBody>
      </p:sp>
      <p:sp>
        <p:nvSpPr>
          <p:cNvPr id="4" name="">
            <a:extLst xmlns:a="http://schemas.openxmlformats.org/drawingml/2006/main">
              <a:ext uri="{FF2B5EF4-FFF2-40B4-BE49-F238E27FC236}">
                <a16:creationId xmlns:a16="http://schemas.microsoft.com/office/drawing/2014/main" id="{12EBE0A3-CB52-44C2-9663-0980D18629DF}"/>
              </a:ext>
            </a:extLst>
          </p:cNvPr>
          <p:cNvSpPr>
            <a:spLocks xmlns:a="http://schemas.openxmlformats.org/drawingml/2006/main" noGrp="1"/>
          </p:cNvSpPr>
          <p:nvPr/>
        </p:nvSpPr>
        <p:spPr>
          <a:xfrm xmlns:a="http://schemas.openxmlformats.org/drawingml/2006/main">
            <a:off x="609600" y="31432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244E42"/>
                </a:solidFill>
                <a:latin typeface="Arial"/>
                <a:ea typeface="Arial"/>
                <a:cs typeface="Arial"/>
              </a:defRPr>
            </a:defPPr>
            <a:lvl1pPr>
              <a:defRPr sz="3150" b="0">
                <a:solidFill>
                  <a:srgbClr val="244E42"/>
                </a:solidFill>
                <a:latin typeface="Arial"/>
                <a:ea typeface="Arial"/>
                <a:cs typeface="Arial"/>
              </a:defRPr>
            </a:lvl1pPr>
            <a:lvl2pPr>
              <a:defRPr sz="3150" b="0">
                <a:solidFill>
                  <a:srgbClr val="244E42"/>
                </a:solidFill>
                <a:latin typeface="Arial"/>
                <a:ea typeface="Arial"/>
                <a:cs typeface="Arial"/>
              </a:defRPr>
            </a:lvl2pPr>
            <a:lvl3pPr>
              <a:defRPr sz="3150" b="0">
                <a:solidFill>
                  <a:srgbClr val="244E42"/>
                </a:solidFill>
                <a:latin typeface="Arial"/>
                <a:ea typeface="Arial"/>
                <a:cs typeface="Arial"/>
              </a:defRPr>
            </a:lvl3pPr>
            <a:lvl4pPr>
              <a:defRPr sz="3150" b="0">
                <a:solidFill>
                  <a:srgbClr val="244E42"/>
                </a:solidFill>
                <a:latin typeface="Arial"/>
                <a:ea typeface="Arial"/>
                <a:cs typeface="Arial"/>
              </a:defRPr>
            </a:lvl4pPr>
            <a:lvl5pPr>
              <a:defRPr sz="3150" b="0">
                <a:solidFill>
                  <a:srgbClr val="244E42"/>
                </a:solidFill>
                <a:latin typeface="Arial"/>
                <a:ea typeface="Arial"/>
                <a:cs typeface="Arial"/>
              </a:defRPr>
            </a:lvl5pPr>
            <a:lvl6pPr>
              <a:defRPr sz="3150" b="0">
                <a:solidFill>
                  <a:srgbClr val="244E42"/>
                </a:solidFill>
                <a:latin typeface="Arial"/>
                <a:ea typeface="Arial"/>
                <a:cs typeface="Arial"/>
              </a:defRPr>
            </a:lvl6pPr>
            <a:lvl7pPr>
              <a:defRPr sz="3150" b="0">
                <a:solidFill>
                  <a:srgbClr val="244E42"/>
                </a:solidFill>
                <a:latin typeface="Arial"/>
                <a:ea typeface="Arial"/>
                <a:cs typeface="Arial"/>
              </a:defRPr>
            </a:lvl7pPr>
            <a:lvl8pPr>
              <a:defRPr sz="3150" b="0">
                <a:solidFill>
                  <a:srgbClr val="244E42"/>
                </a:solidFill>
                <a:latin typeface="Arial"/>
                <a:ea typeface="Arial"/>
                <a:cs typeface="Arial"/>
              </a:defRPr>
            </a:lvl8pPr>
            <a:lvl9pPr>
              <a:defRPr sz="3150" b="0">
                <a:solidFill>
                  <a:srgbClr val="244E42"/>
                </a:solidFill>
                <a:latin typeface="Arial"/>
                <a:ea typeface="Arial"/>
                <a:cs typeface="Arial"/>
              </a:defRPr>
            </a:lvl9pPr>
          </a:lstStyle>
          <a:p xmlns:a="http://schemas.openxmlformats.org/drawingml/2006/main">
            <a:pPr>
              <a:defRPr sz="3150" b="0">
                <a:solidFill>
                  <a:srgbClr val="244E42"/>
                </a:solidFill>
                <a:latin typeface="Arial"/>
                <a:ea typeface="Arial"/>
                <a:cs typeface="Arial"/>
              </a:defRPr>
            </a:pPr>
            <a:r>
              <a:rPr sz="3150" b="0">
                <a:solidFill>
                  <a:srgbClr val="244E42"/>
                </a:solidFill>
                <a:latin typeface="Arial"/>
                <a:ea typeface="Arial"/>
                <a:cs typeface="Arial"/>
              </a:rPr>
              <a:t>DFS &amp; Greedy Best-First Search</a:t>
            </a:r>
          </a:p>
        </p:txBody>
      </p:sp>
      <p:sp>
        <p:nvSpPr>
          <p:cNvPr id="5" name="">
            <a:extLst xmlns:a="http://schemas.openxmlformats.org/drawingml/2006/main">
              <a:ext uri="{FF2B5EF4-FFF2-40B4-BE49-F238E27FC236}">
                <a16:creationId xmlns:a16="http://schemas.microsoft.com/office/drawing/2014/main" id="{48C8A0F5-378A-41A6-86CA-D7490BE88E93}"/>
              </a:ext>
            </a:extLst>
          </p:cNvPr>
          <p:cNvSpPr>
            <a:spLocks xmlns:a="http://schemas.openxmlformats.org/drawingml/2006/main" noGrp="1"/>
          </p:cNvSpPr>
          <p:nvPr/>
        </p:nvSpPr>
        <p:spPr>
          <a:xfrm xmlns:a="http://schemas.openxmlformats.org/drawingml/2006/main">
            <a:off x="609600" y="46672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61745D"/>
                </a:solidFill>
                <a:latin typeface="Arial"/>
                <a:ea typeface="Arial"/>
                <a:cs typeface="Arial"/>
              </a:defRPr>
            </a:defPPr>
            <a:lvl1pPr>
              <a:defRPr sz="2100" b="0">
                <a:solidFill>
                  <a:srgbClr val="61745D"/>
                </a:solidFill>
                <a:latin typeface="Arial"/>
                <a:ea typeface="Arial"/>
                <a:cs typeface="Arial"/>
              </a:defRPr>
            </a:lvl1pPr>
            <a:lvl2pPr>
              <a:defRPr sz="2100" b="0">
                <a:solidFill>
                  <a:srgbClr val="61745D"/>
                </a:solidFill>
                <a:latin typeface="Arial"/>
                <a:ea typeface="Arial"/>
                <a:cs typeface="Arial"/>
              </a:defRPr>
            </a:lvl2pPr>
            <a:lvl3pPr>
              <a:defRPr sz="2100" b="0">
                <a:solidFill>
                  <a:srgbClr val="61745D"/>
                </a:solidFill>
                <a:latin typeface="Arial"/>
                <a:ea typeface="Arial"/>
                <a:cs typeface="Arial"/>
              </a:defRPr>
            </a:lvl3pPr>
            <a:lvl4pPr>
              <a:defRPr sz="2100" b="0">
                <a:solidFill>
                  <a:srgbClr val="61745D"/>
                </a:solidFill>
                <a:latin typeface="Arial"/>
                <a:ea typeface="Arial"/>
                <a:cs typeface="Arial"/>
              </a:defRPr>
            </a:lvl4pPr>
            <a:lvl5pPr>
              <a:defRPr sz="2100" b="0">
                <a:solidFill>
                  <a:srgbClr val="61745D"/>
                </a:solidFill>
                <a:latin typeface="Arial"/>
                <a:ea typeface="Arial"/>
                <a:cs typeface="Arial"/>
              </a:defRPr>
            </a:lvl5pPr>
            <a:lvl6pPr>
              <a:defRPr sz="2100" b="0">
                <a:solidFill>
                  <a:srgbClr val="61745D"/>
                </a:solidFill>
                <a:latin typeface="Arial"/>
                <a:ea typeface="Arial"/>
                <a:cs typeface="Arial"/>
              </a:defRPr>
            </a:lvl6pPr>
            <a:lvl7pPr>
              <a:defRPr sz="2100" b="0">
                <a:solidFill>
                  <a:srgbClr val="61745D"/>
                </a:solidFill>
                <a:latin typeface="Arial"/>
                <a:ea typeface="Arial"/>
                <a:cs typeface="Arial"/>
              </a:defRPr>
            </a:lvl7pPr>
            <a:lvl8pPr>
              <a:defRPr sz="2100" b="0">
                <a:solidFill>
                  <a:srgbClr val="61745D"/>
                </a:solidFill>
                <a:latin typeface="Arial"/>
                <a:ea typeface="Arial"/>
                <a:cs typeface="Arial"/>
              </a:defRPr>
            </a:lvl8pPr>
            <a:lvl9pPr>
              <a:defRPr sz="2100" b="0">
                <a:solidFill>
                  <a:srgbClr val="61745D"/>
                </a:solidFill>
                <a:latin typeface="Arial"/>
                <a:ea typeface="Arial"/>
                <a:cs typeface="Arial"/>
              </a:defRPr>
            </a:lvl9pPr>
          </a:lstStyle>
          <a:p xmlns:a="http://schemas.openxmlformats.org/drawingml/2006/main">
            <a:pPr>
              <a:defRPr sz="2100" b="0">
                <a:solidFill>
                  <a:srgbClr val="61745D"/>
                </a:solidFill>
                <a:latin typeface="Arial"/>
                <a:ea typeface="Arial"/>
                <a:cs typeface="Arial"/>
              </a:defRPr>
            </a:pPr>
            <a:r>
              <a:rPr sz="2100" b="0">
                <a:solidFill>
                  <a:srgbClr val="61745D"/>
                </a:solidFill>
                <a:latin typeface="Arial"/>
                <a:ea typeface="Arial"/>
                <a:cs typeface="Arial"/>
              </a:rPr>
              <a:t>Bài tập lớn 1 · Nhập môn Trí tuệ nhân tạo</a:t>
            </a:r>
          </a:p>
          <a:p xmlns:a="http://schemas.openxmlformats.org/drawingml/2006/main">
            <a:pPr>
              <a:defRPr sz="2100" b="0">
                <a:solidFill>
                  <a:srgbClr val="61745D"/>
                </a:solidFill>
                <a:latin typeface="Arial"/>
                <a:ea typeface="Arial"/>
                <a:cs typeface="Arial"/>
              </a:defRPr>
            </a:pPr>
            <a:r>
              <a:rPr sz="2100" b="0">
                <a:solidFill>
                  <a:srgbClr val="61745D"/>
                </a:solidFill>
                <a:latin typeface="Arial"/>
                <a:ea typeface="Arial"/>
                <a:cs typeface="Arial"/>
              </a:rPr>
              <a:t>Học kỳ 1 năm học 2026-2027</a:t>
            </a:r>
          </a:p>
        </p:txBody>
      </p:sp>
    </p:spTree>
    <p:extLst>
      <p:ext uri="{BB962C8B-B14F-4D97-AF65-F5344CB8AC3E}">
        <p14:creationId xmlns:p14="http://schemas.microsoft.com/office/powerpoint/2010/main" val="145323847"/>
      </p:ext>
    </p:extLst>
  </p:cSld>
</p:sld>
</file>

<file path=ppt/slides/slide2.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EC9C39-49DB-4058-9875-48D66F08468F}"/>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Pipes: một mạng, không vòng kín</a:t>
            </a:r>
          </a:p>
        </p:txBody>
      </p:sp>
      <p:sp>
        <p:nvSpPr>
          <p:cNvPr id="2" name="">
            <a:extLst xmlns:a="http://schemas.openxmlformats.org/drawingml/2006/main">
              <a:ext uri="{FF2B5EF4-FFF2-40B4-BE49-F238E27FC236}">
                <a16:creationId xmlns:a16="http://schemas.microsoft.com/office/drawing/2014/main" id="{4A915A50-1A7E-4556-9A74-4BC4F90E3C85}"/>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02</a:t>
            </a:r>
          </a:p>
        </p:txBody>
      </p:sp>
      <p:sp>
        <p:nvSpPr>
          <p:cNvPr id="3" name="">
            <a:extLst xmlns:a="http://schemas.openxmlformats.org/drawingml/2006/main">
              <a:ext uri="{FF2B5EF4-FFF2-40B4-BE49-F238E27FC236}">
                <a16:creationId xmlns:a16="http://schemas.microsoft.com/office/drawing/2014/main" id="{D0DB8E63-5C8D-4DC1-B107-6251AB5E99B0}"/>
              </a:ext>
            </a:extLst>
          </p:cNvPr>
          <p:cNvSpPr>
            <a:spLocks xmlns:a="http://schemas.openxmlformats.org/drawingml/2006/main" noGrp="1"/>
          </p:cNvSpPr>
          <p:nvPr/>
        </p:nvSpPr>
        <p:spPr>
          <a:xfrm xmlns:a="http://schemas.openxmlformats.org/drawingml/2006/main">
            <a:off x="609600" y="1666875"/>
            <a:ext cx="4762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Xoay từng mảnh để mọi đầu ống khớp với ô kề cạnh.</a:t>
            </a:r>
          </a:p>
        </p:txBody>
      </p:sp>
      <p:sp>
        <p:nvSpPr>
          <p:cNvPr id="4" name="">
            <a:extLst xmlns:a="http://schemas.openxmlformats.org/drawingml/2006/main">
              <a:ext uri="{FF2B5EF4-FFF2-40B4-BE49-F238E27FC236}">
                <a16:creationId xmlns:a16="http://schemas.microsoft.com/office/drawing/2014/main" id="{550912D2-0D17-4A96-9B22-5712C4E90A3F}"/>
              </a:ext>
            </a:extLst>
          </p:cNvPr>
          <p:cNvSpPr>
            <a:spLocks xmlns:a="http://schemas.openxmlformats.org/drawingml/2006/main" noGrp="1"/>
          </p:cNvSpPr>
          <p:nvPr/>
        </p:nvSpPr>
        <p:spPr>
          <a:xfrm xmlns:a="http://schemas.openxmlformats.org/drawingml/2006/main">
            <a:off x="609600" y="3048000"/>
            <a:ext cx="4762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Toàn bộ ống liên thông; không chĩa ra biên và không có chu trình.</a:t>
            </a:r>
          </a:p>
        </p:txBody>
      </p:sp>
      <p:sp>
        <p:nvSpPr>
          <p:cNvPr id="5" name="">
            <a:extLst xmlns:a="http://schemas.openxmlformats.org/drawingml/2006/main">
              <a:ext uri="{FF2B5EF4-FFF2-40B4-BE49-F238E27FC236}">
                <a16:creationId xmlns:a16="http://schemas.microsoft.com/office/drawing/2014/main" id="{15F25F69-AD87-4D26-9CD9-7A2A14744E77}"/>
              </a:ext>
            </a:extLst>
          </p:cNvPr>
          <p:cNvSpPr>
            <a:spLocks xmlns:a="http://schemas.openxmlformats.org/drawingml/2006/main" noGrp="1"/>
          </p:cNvSpPr>
          <p:nvPr/>
        </p:nvSpPr>
        <p:spPr>
          <a:xfrm xmlns:a="http://schemas.openxmlformats.org/drawingml/2006/main">
            <a:off x="609600" y="4429125"/>
            <a:ext cx="4762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Đồ thị nghiệm là cây: n đỉnh, n − 1 cạnh.</a:t>
            </a:r>
          </a:p>
        </p:txBody>
      </p:sp>
      <p:pic>
        <p:nvPicPr>
          <p:cNvPr id="6" name="">
            <a:extLst xmlns:a="http://schemas.openxmlformats.org/drawingml/2006/main">
              <a:ext uri="{FF2B5EF4-FFF2-40B4-BE49-F238E27FC236}">
                <a16:creationId xmlns:a16="http://schemas.microsoft.com/office/drawing/2014/main" id="{55AC6467-5B2A-443A-954F-9DDED70DBE45}"/>
              </a:ext>
            </a:extLst>
          </p:cNvPr>
          <p:cNvPicPr>
            <a:picLocks xmlns:a="http://schemas.openxmlformats.org/drawingml/2006/main" noChangeAspect="1"/>
          </p:cNvPicPr>
          <p:nvPr/>
        </p:nvPicPr>
        <p:blipFill>
          <a:blip xmlns:r="http://schemas.openxmlformats.org/officeDocument/2006/relationships" xmlns:a="http://schemas.openxmlformats.org/drawingml/2006/main" r:embed="R9f253d7433d1465f"/>
          <a:stretch xmlns:a="http://schemas.openxmlformats.org/drawingml/2006/main"/>
        </p:blipFill>
        <p:spPr>
          <a:xfrm xmlns:a="http://schemas.openxmlformats.org/drawingml/2006/main">
            <a:off x="5989321" y="1409700"/>
            <a:ext cx="5261607" cy="4619625"/>
          </a:xfrm>
          <a:prstGeom xmlns:a="http://schemas.openxmlformats.org/drawingml/2006/main" prst="rect">
            <a:avLst/>
          </a:prstGeom>
        </p:spPr>
      </p:pic>
    </p:spTree>
    <p:extLst>
      <p:ext uri="{BB962C8B-B14F-4D97-AF65-F5344CB8AC3E}">
        <p14:creationId xmlns:p14="http://schemas.microsoft.com/office/powerpoint/2010/main" val="498890797"/>
      </p:ext>
    </p:extLst>
  </p:cSld>
</p:sld>
</file>

<file path=ppt/slides/slide3.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0D1FF0-9C29-4565-B8D9-2CFD122424DB}"/>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Light Up: phủ sáng và thỏa ô số</a:t>
            </a:r>
          </a:p>
        </p:txBody>
      </p:sp>
      <p:sp>
        <p:nvSpPr>
          <p:cNvPr id="2" name="">
            <a:extLst xmlns:a="http://schemas.openxmlformats.org/drawingml/2006/main">
              <a:ext uri="{FF2B5EF4-FFF2-40B4-BE49-F238E27FC236}">
                <a16:creationId xmlns:a16="http://schemas.microsoft.com/office/drawing/2014/main" id="{EEB45E81-0D84-4994-AD0B-F16F1120A032}"/>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03</a:t>
            </a:r>
          </a:p>
        </p:txBody>
      </p:sp>
      <p:sp>
        <p:nvSpPr>
          <p:cNvPr id="3" name="">
            <a:extLst xmlns:a="http://schemas.openxmlformats.org/drawingml/2006/main">
              <a:ext uri="{FF2B5EF4-FFF2-40B4-BE49-F238E27FC236}">
                <a16:creationId xmlns:a16="http://schemas.microsoft.com/office/drawing/2014/main" id="{110D1A0D-6356-4980-AD61-BADAFBE682EE}"/>
              </a:ext>
            </a:extLst>
          </p:cNvPr>
          <p:cNvSpPr>
            <a:spLocks xmlns:a="http://schemas.openxmlformats.org/drawingml/2006/main" noGrp="1"/>
          </p:cNvSpPr>
          <p:nvPr/>
        </p:nvSpPr>
        <p:spPr>
          <a:xfrm xmlns:a="http://schemas.openxmlformats.org/drawingml/2006/main">
            <a:off x="609600" y="1666875"/>
            <a:ext cx="4762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Mọi ô trắng đều được chiếu sáng theo hàng hoặc cột.</a:t>
            </a:r>
          </a:p>
        </p:txBody>
      </p:sp>
      <p:sp>
        <p:nvSpPr>
          <p:cNvPr id="4" name="">
            <a:extLst xmlns:a="http://schemas.openxmlformats.org/drawingml/2006/main">
              <a:ext uri="{FF2B5EF4-FFF2-40B4-BE49-F238E27FC236}">
                <a16:creationId xmlns:a16="http://schemas.microsoft.com/office/drawing/2014/main" id="{BE3B964F-E14A-4CBC-9F68-16B1F8F4F80C}"/>
              </a:ext>
            </a:extLst>
          </p:cNvPr>
          <p:cNvSpPr>
            <a:spLocks xmlns:a="http://schemas.openxmlformats.org/drawingml/2006/main" noGrp="1"/>
          </p:cNvSpPr>
          <p:nvPr/>
        </p:nvSpPr>
        <p:spPr>
          <a:xfrm xmlns:a="http://schemas.openxmlformats.org/drawingml/2006/main">
            <a:off x="609600" y="3048000"/>
            <a:ext cx="4762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Hai đèn không chiếu vào nhau; ô đen chặn tia sáng.</a:t>
            </a:r>
          </a:p>
        </p:txBody>
      </p:sp>
      <p:sp>
        <p:nvSpPr>
          <p:cNvPr id="5" name="">
            <a:extLst xmlns:a="http://schemas.openxmlformats.org/drawingml/2006/main">
              <a:ext uri="{FF2B5EF4-FFF2-40B4-BE49-F238E27FC236}">
                <a16:creationId xmlns:a16="http://schemas.microsoft.com/office/drawing/2014/main" id="{A3A6AFD9-53D2-4463-8692-69C204657F0F}"/>
              </a:ext>
            </a:extLst>
          </p:cNvPr>
          <p:cNvSpPr>
            <a:spLocks xmlns:a="http://schemas.openxmlformats.org/drawingml/2006/main" noGrp="1"/>
          </p:cNvSpPr>
          <p:nvPr/>
        </p:nvSpPr>
        <p:spPr>
          <a:xfrm xmlns:a="http://schemas.openxmlformats.org/drawingml/2006/main">
            <a:off x="609600" y="4429125"/>
            <a:ext cx="4762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Ô số k cần đúng k đèn kề cạnh, không tính đường chéo.</a:t>
            </a:r>
          </a:p>
        </p:txBody>
      </p:sp>
      <p:pic>
        <p:nvPicPr>
          <p:cNvPr id="6" name="">
            <a:extLst xmlns:a="http://schemas.openxmlformats.org/drawingml/2006/main">
              <a:ext uri="{FF2B5EF4-FFF2-40B4-BE49-F238E27FC236}">
                <a16:creationId xmlns:a16="http://schemas.microsoft.com/office/drawing/2014/main" id="{952A4CB3-EDD4-4CE3-9BF8-9A47128F1CEC}"/>
              </a:ext>
            </a:extLst>
          </p:cNvPr>
          <p:cNvPicPr>
            <a:picLocks xmlns:a="http://schemas.openxmlformats.org/drawingml/2006/main" noChangeAspect="1"/>
          </p:cNvPicPr>
          <p:nvPr/>
        </p:nvPicPr>
        <p:blipFill>
          <a:blip xmlns:r="http://schemas.openxmlformats.org/officeDocument/2006/relationships" xmlns:a="http://schemas.openxmlformats.org/drawingml/2006/main" r:embed="R9d14f3cee51e49f9"/>
          <a:stretch xmlns:a="http://schemas.openxmlformats.org/drawingml/2006/main"/>
        </p:blipFill>
        <p:spPr>
          <a:xfrm xmlns:a="http://schemas.openxmlformats.org/drawingml/2006/main">
            <a:off x="5989321" y="1409700"/>
            <a:ext cx="5261607" cy="4619625"/>
          </a:xfrm>
          <a:prstGeom xmlns:a="http://schemas.openxmlformats.org/drawingml/2006/main" prst="rect">
            <a:avLst/>
          </a:prstGeom>
        </p:spPr>
      </p:pic>
    </p:spTree>
    <p:extLst>
      <p:ext uri="{BB962C8B-B14F-4D97-AF65-F5344CB8AC3E}">
        <p14:creationId xmlns:p14="http://schemas.microsoft.com/office/powerpoint/2010/main" val="79849507"/>
      </p:ext>
    </p:extLst>
  </p:cSld>
</p:sld>
</file>

<file path=ppt/slides/slide4.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BF33DC-7612-4949-B4C8-A775681A1BF5}"/>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DFS và Greedy dùng chung mô hình</a:t>
            </a:r>
          </a:p>
        </p:txBody>
      </p:sp>
      <p:sp>
        <p:nvSpPr>
          <p:cNvPr id="2" name="">
            <a:extLst xmlns:a="http://schemas.openxmlformats.org/drawingml/2006/main">
              <a:ext uri="{FF2B5EF4-FFF2-40B4-BE49-F238E27FC236}">
                <a16:creationId xmlns:a16="http://schemas.microsoft.com/office/drawing/2014/main" id="{827D5B18-9DE7-45B3-9C45-CC28633F85E7}"/>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04</a:t>
            </a:r>
          </a:p>
        </p:txBody>
      </p:sp>
      <p:graphicFrame>
        <p:nvGraphicFramePr>
          <p:cNvPr id="3" name="">
            <a:extLst xmlns:a="http://schemas.openxmlformats.org/drawingml/2006/main">
              <a:ext uri="{FF2B5EF4-FFF2-40B4-BE49-F238E27FC236}">
                <a16:creationId xmlns:a16="http://schemas.microsoft.com/office/drawing/2014/main" id="{3C1C5543-6306-4D0C-A30A-6E69C7159232}"/>
              </a:ext>
            </a:extLst>
          </p:cNvPr>
          <p:cNvGraphicFramePr/>
          <p:nvPr/>
        </p:nvGraphicFramePr>
        <p:xfrm>
          <a:off xmlns:a="http://schemas.openxmlformats.org/drawingml/2006/main" x="609600" y="1666875"/>
          <a:ext xmlns:a="http://schemas.openxmlformats.org/drawingml/2006/main" cx="10972800" cy="2952750"/>
        </p:xfrm>
        <a:graphic xmlns:a="http://schemas.openxmlformats.org/drawingml/2006/main">
          <a:graphicData uri="http://schemas.openxmlformats.org/drawingml/2006/table">
            <a:tbl>
              <a:tblPr/>
              <a:tblGrid>
                <a:gridCol w="3429000"/>
                <a:gridCol w="3771900"/>
                <a:gridCol w="3771900"/>
              </a:tblGrid>
              <a:tr h="590550">
                <a:tc>
                  <a:txBody>
                    <a:bodyPr lIns="114300" tIns="114300" rIns="114300" bIns="114300"/>
                    <a:lstStyle/>
                    <a:p>
                      <a:r>
                        <a:rPr sz="1950" b="1">
                          <a:solidFill>
                            <a:srgbClr val="203D35"/>
                          </a:solidFill>
                          <a:latin typeface="Arial"/>
                          <a:ea typeface="Arial"/>
                          <a:cs typeface="Arial"/>
                        </a:rPr>
                        <a:t>Đặc điểm</a:t>
                      </a:r>
                    </a:p>
                  </a:txBody>
                  <a:tcPr marL="91440" marR="91440" marT="45720" marB="45720">
                    <a:solidFill>
                      <a:srgbClr val="E0EAD4"/>
                    </a:solidFill>
                  </a:tcPr>
                </a:tc>
                <a:tc>
                  <a:txBody>
                    <a:bodyPr lIns="114300" tIns="114300" rIns="114300" bIns="114300"/>
                    <a:lstStyle/>
                    <a:p>
                      <a:r>
                        <a:rPr sz="1950" b="1">
                          <a:solidFill>
                            <a:srgbClr val="203D35"/>
                          </a:solidFill>
                          <a:latin typeface="Arial"/>
                          <a:ea typeface="Arial"/>
                          <a:cs typeface="Arial"/>
                        </a:rPr>
                        <a:t>DFS</a:t>
                      </a:r>
                    </a:p>
                  </a:txBody>
                  <a:tcPr marL="91440" marR="91440" marT="45720" marB="45720">
                    <a:solidFill>
                      <a:srgbClr val="E0EAD4"/>
                    </a:solidFill>
                  </a:tcPr>
                </a:tc>
                <a:tc>
                  <a:txBody>
                    <a:bodyPr lIns="114300" tIns="114300" rIns="114300" bIns="114300"/>
                    <a:lstStyle/>
                    <a:p>
                      <a:r>
                        <a:rPr sz="1950" b="1">
                          <a:solidFill>
                            <a:srgbClr val="203D35"/>
                          </a:solidFill>
                          <a:latin typeface="Arial"/>
                          <a:ea typeface="Arial"/>
                          <a:cs typeface="Arial"/>
                        </a:rPr>
                        <a:t>Greedy</a:t>
                      </a:r>
                    </a:p>
                  </a:txBody>
                  <a:tcPr marL="91440" marR="91440" marT="45720" marB="45720">
                    <a:solidFill>
                      <a:srgbClr val="E0EAD4"/>
                    </a:solidFill>
                  </a:tcPr>
                </a:tc>
              </a:tr>
              <a:tr h="590550">
                <a:tc>
                  <a:txBody>
                    <a:bodyPr lIns="114300" tIns="114300" rIns="114300" bIns="114300"/>
                    <a:lstStyle/>
                    <a:p>
                      <a:r>
                        <a:rPr sz="1950" b="0">
                          <a:solidFill>
                            <a:srgbClr val="203D35"/>
                          </a:solidFill>
                          <a:latin typeface="Arial"/>
                          <a:ea typeface="Arial"/>
                          <a:cs typeface="Arial"/>
                        </a:rPr>
                        <a:t>Frontier</a:t>
                      </a:r>
                    </a:p>
                  </a:txBody>
                  <a:tcPr marL="91440" marR="91440" marT="45720" marB="45720">
                    <a:solidFill>
                      <a:srgbClr val="FFFFFF"/>
                    </a:solidFill>
                  </a:tcPr>
                </a:tc>
                <a:tc>
                  <a:txBody>
                    <a:bodyPr lIns="114300" tIns="114300" rIns="114300" bIns="114300"/>
                    <a:lstStyle/>
                    <a:p>
                      <a:r>
                        <a:rPr sz="1950" b="0">
                          <a:solidFill>
                            <a:srgbClr val="203D35"/>
                          </a:solidFill>
                          <a:latin typeface="Arial"/>
                          <a:ea typeface="Arial"/>
                          <a:cs typeface="Arial"/>
                        </a:rPr>
                        <a:t>Stack (LIFO)</a:t>
                      </a:r>
                    </a:p>
                  </a:txBody>
                  <a:tcPr marL="91440" marR="91440" marT="45720" marB="45720">
                    <a:solidFill>
                      <a:srgbClr val="FFFFFF"/>
                    </a:solidFill>
                  </a:tcPr>
                </a:tc>
                <a:tc>
                  <a:txBody>
                    <a:bodyPr lIns="114300" tIns="114300" rIns="114300" bIns="114300"/>
                    <a:lstStyle/>
                    <a:p>
                      <a:r>
                        <a:rPr sz="1950" b="0">
                          <a:solidFill>
                            <a:srgbClr val="203D35"/>
                          </a:solidFill>
                          <a:latin typeface="Arial"/>
                          <a:ea typeface="Arial"/>
                          <a:cs typeface="Arial"/>
                        </a:rPr>
                        <a:t>Min-heap theo h</a:t>
                      </a:r>
                    </a:p>
                  </a:txBody>
                  <a:tcPr marL="91440" marR="91440" marT="45720" marB="45720">
                    <a:solidFill>
                      <a:srgbClr val="FFFFFF"/>
                    </a:solidFill>
                  </a:tcPr>
                </a:tc>
              </a:tr>
              <a:tr h="590550">
                <a:tc>
                  <a:txBody>
                    <a:bodyPr lIns="114300" tIns="114300" rIns="114300" bIns="114300"/>
                    <a:lstStyle/>
                    <a:p>
                      <a:r>
                        <a:rPr sz="1950" b="0">
                          <a:solidFill>
                            <a:srgbClr val="203D35"/>
                          </a:solidFill>
                          <a:latin typeface="Arial"/>
                          <a:ea typeface="Arial"/>
                          <a:cs typeface="Arial"/>
                        </a:rPr>
                        <a:t>Chọn biến / sinh con</a:t>
                      </a:r>
                    </a:p>
                  </a:txBody>
                  <a:tcPr marL="91440" marR="91440" marT="45720" marB="45720">
                    <a:solidFill>
                      <a:srgbClr val="FFFFFF"/>
                    </a:solidFill>
                  </a:tcPr>
                </a:tc>
                <a:tc>
                  <a:txBody>
                    <a:bodyPr lIns="114300" tIns="114300" rIns="114300" bIns="114300"/>
                    <a:lstStyle/>
                    <a:p>
                      <a:r>
                        <a:rPr sz="1950" b="0">
                          <a:solidFill>
                            <a:srgbClr val="203D35"/>
                          </a:solidFill>
                          <a:latin typeface="Arial"/>
                          <a:ea typeface="Arial"/>
                          <a:cs typeface="Arial"/>
                        </a:rPr>
                        <a:t>Cố định hàng/cột</a:t>
                      </a:r>
                    </a:p>
                  </a:txBody>
                  <a:tcPr marL="91440" marR="91440" marT="45720" marB="45720">
                    <a:solidFill>
                      <a:srgbClr val="FFFFFF"/>
                    </a:solidFill>
                  </a:tcPr>
                </a:tc>
                <a:tc>
                  <a:txBody>
                    <a:bodyPr lIns="114300" tIns="114300" rIns="114300" bIns="114300"/>
                    <a:lstStyle/>
                    <a:p>
                      <a:r>
                        <a:rPr sz="1950" b="0">
                          <a:solidFill>
                            <a:srgbClr val="203D35"/>
                          </a:solidFill>
                          <a:latin typeface="Arial"/>
                          <a:ea typeface="Arial"/>
                          <a:cs typeface="Arial"/>
                        </a:rPr>
                        <a:t>Cùng thứ tự với DFS</a:t>
                      </a:r>
                    </a:p>
                  </a:txBody>
                  <a:tcPr marL="91440" marR="91440" marT="45720" marB="45720">
                    <a:solidFill>
                      <a:srgbClr val="FFFFFF"/>
                    </a:solidFill>
                  </a:tcPr>
                </a:tc>
              </a:tr>
              <a:tr h="590550">
                <a:tc>
                  <a:txBody>
                    <a:bodyPr lIns="114300" tIns="114300" rIns="114300" bIns="114300"/>
                    <a:lstStyle/>
                    <a:p>
                      <a:r>
                        <a:rPr sz="1950" b="0">
                          <a:solidFill>
                            <a:srgbClr val="203D35"/>
                          </a:solidFill>
                          <a:latin typeface="Arial"/>
                          <a:ea typeface="Arial"/>
                          <a:cs typeface="Arial"/>
                        </a:rPr>
                        <a:t>Cắt nhánh</a:t>
                      </a:r>
                    </a:p>
                  </a:txBody>
                  <a:tcPr marL="91440" marR="91440" marT="45720" marB="45720">
                    <a:solidFill>
                      <a:srgbClr val="FFFFFF"/>
                    </a:solidFill>
                  </a:tcPr>
                </a:tc>
                <a:tc>
                  <a:txBody>
                    <a:bodyPr lIns="114300" tIns="114300" rIns="114300" bIns="114300"/>
                    <a:lstStyle/>
                    <a:p>
                      <a:r>
                        <a:rPr sz="1950" b="0">
                          <a:solidFill>
                            <a:srgbClr val="203D35"/>
                          </a:solidFill>
                          <a:latin typeface="Arial"/>
                          <a:ea typeface="Arial"/>
                          <a:cs typeface="Arial"/>
                        </a:rPr>
                        <a:t>Ràng buộc khả thi</a:t>
                      </a:r>
                    </a:p>
                  </a:txBody>
                  <a:tcPr marL="91440" marR="91440" marT="45720" marB="45720">
                    <a:solidFill>
                      <a:srgbClr val="FFFFFF"/>
                    </a:solidFill>
                  </a:tcPr>
                </a:tc>
                <a:tc>
                  <a:txBody>
                    <a:bodyPr lIns="114300" tIns="114300" rIns="114300" bIns="114300"/>
                    <a:lstStyle/>
                    <a:p>
                      <a:r>
                        <a:rPr sz="1950" b="0">
                          <a:solidFill>
                            <a:srgbClr val="203D35"/>
                          </a:solidFill>
                          <a:latin typeface="Arial"/>
                          <a:ea typeface="Arial"/>
                          <a:cs typeface="Arial"/>
                        </a:rPr>
                        <a:t>Cùng quy tắc với DFS</a:t>
                      </a:r>
                    </a:p>
                  </a:txBody>
                  <a:tcPr marL="91440" marR="91440" marT="45720" marB="45720">
                    <a:solidFill>
                      <a:srgbClr val="FFFFFF"/>
                    </a:solidFill>
                  </a:tcPr>
                </a:tc>
              </a:tr>
              <a:tr h="590550">
                <a:tc>
                  <a:txBody>
                    <a:bodyPr lIns="114300" tIns="114300" rIns="114300" bIns="114300"/>
                    <a:lstStyle/>
                    <a:p>
                      <a:r>
                        <a:rPr sz="1950" b="0">
                          <a:solidFill>
                            <a:srgbClr val="203D35"/>
                          </a:solidFill>
                          <a:latin typeface="Arial"/>
                          <a:ea typeface="Arial"/>
                          <a:cs typeface="Arial"/>
                        </a:rPr>
                        <a:t>Bảo đảm tối ưu</a:t>
                      </a:r>
                    </a:p>
                  </a:txBody>
                  <a:tcPr marL="91440" marR="91440" marT="45720" marB="45720">
                    <a:solidFill>
                      <a:srgbClr val="FFFFFF"/>
                    </a:solidFill>
                  </a:tcPr>
                </a:tc>
                <a:tc>
                  <a:txBody>
                    <a:bodyPr lIns="114300" tIns="114300" rIns="114300" bIns="114300"/>
                    <a:lstStyle/>
                    <a:p>
                      <a:r>
                        <a:rPr sz="1950" b="0">
                          <a:solidFill>
                            <a:srgbClr val="203D35"/>
                          </a:solidFill>
                          <a:latin typeface="Arial"/>
                          <a:ea typeface="Arial"/>
                          <a:cs typeface="Arial"/>
                        </a:rPr>
                        <a:t>Không</a:t>
                      </a:r>
                    </a:p>
                  </a:txBody>
                  <a:tcPr marL="91440" marR="91440" marT="45720" marB="45720">
                    <a:solidFill>
                      <a:srgbClr val="FFFFFF"/>
                    </a:solidFill>
                  </a:tcPr>
                </a:tc>
                <a:tc>
                  <a:txBody>
                    <a:bodyPr lIns="114300" tIns="114300" rIns="114300" bIns="114300"/>
                    <a:lstStyle/>
                    <a:p>
                      <a:r>
                        <a:rPr sz="1950" b="0">
                          <a:solidFill>
                            <a:srgbClr val="203D35"/>
                          </a:solidFill>
                          <a:latin typeface="Arial"/>
                          <a:ea typeface="Arial"/>
                          <a:cs typeface="Arial"/>
                        </a:rPr>
                        <a:t>Không; không phải 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0740C78-868B-4FBE-8146-E21DA0CC53FF}"/>
              </a:ext>
            </a:extLst>
          </p:cNvPr>
          <p:cNvSpPr>
            <a:spLocks xmlns:a="http://schemas.openxmlformats.org/drawingml/2006/main" noGrp="1"/>
          </p:cNvSpPr>
          <p:nvPr/>
        </p:nvSpPr>
        <p:spPr>
          <a:xfrm xmlns:a="http://schemas.openxmlformats.org/drawingml/2006/main">
            <a:off x="609600" y="50006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3D35"/>
                </a:solidFill>
                <a:latin typeface="Arial"/>
                <a:ea typeface="Arial"/>
                <a:cs typeface="Arial"/>
              </a:defRPr>
            </a:defPPr>
            <a:lvl1pPr>
              <a:defRPr sz="2175" b="1">
                <a:solidFill>
                  <a:srgbClr val="203D35"/>
                </a:solidFill>
                <a:latin typeface="Arial"/>
                <a:ea typeface="Arial"/>
                <a:cs typeface="Arial"/>
              </a:defRPr>
            </a:lvl1pPr>
            <a:lvl2pPr>
              <a:defRPr sz="2175" b="1">
                <a:solidFill>
                  <a:srgbClr val="203D35"/>
                </a:solidFill>
                <a:latin typeface="Arial"/>
                <a:ea typeface="Arial"/>
                <a:cs typeface="Arial"/>
              </a:defRPr>
            </a:lvl2pPr>
            <a:lvl3pPr>
              <a:defRPr sz="2175" b="1">
                <a:solidFill>
                  <a:srgbClr val="203D35"/>
                </a:solidFill>
                <a:latin typeface="Arial"/>
                <a:ea typeface="Arial"/>
                <a:cs typeface="Arial"/>
              </a:defRPr>
            </a:lvl3pPr>
            <a:lvl4pPr>
              <a:defRPr sz="2175" b="1">
                <a:solidFill>
                  <a:srgbClr val="203D35"/>
                </a:solidFill>
                <a:latin typeface="Arial"/>
                <a:ea typeface="Arial"/>
                <a:cs typeface="Arial"/>
              </a:defRPr>
            </a:lvl4pPr>
            <a:lvl5pPr>
              <a:defRPr sz="2175" b="1">
                <a:solidFill>
                  <a:srgbClr val="203D35"/>
                </a:solidFill>
                <a:latin typeface="Arial"/>
                <a:ea typeface="Arial"/>
                <a:cs typeface="Arial"/>
              </a:defRPr>
            </a:lvl5pPr>
            <a:lvl6pPr>
              <a:defRPr sz="2175" b="1">
                <a:solidFill>
                  <a:srgbClr val="203D35"/>
                </a:solidFill>
                <a:latin typeface="Arial"/>
                <a:ea typeface="Arial"/>
                <a:cs typeface="Arial"/>
              </a:defRPr>
            </a:lvl6pPr>
            <a:lvl7pPr>
              <a:defRPr sz="2175" b="1">
                <a:solidFill>
                  <a:srgbClr val="203D35"/>
                </a:solidFill>
                <a:latin typeface="Arial"/>
                <a:ea typeface="Arial"/>
                <a:cs typeface="Arial"/>
              </a:defRPr>
            </a:lvl7pPr>
            <a:lvl8pPr>
              <a:defRPr sz="2175" b="1">
                <a:solidFill>
                  <a:srgbClr val="203D35"/>
                </a:solidFill>
                <a:latin typeface="Arial"/>
                <a:ea typeface="Arial"/>
                <a:cs typeface="Arial"/>
              </a:defRPr>
            </a:lvl8pPr>
            <a:lvl9pPr>
              <a:defRPr sz="2175" b="1">
                <a:solidFill>
                  <a:srgbClr val="203D35"/>
                </a:solidFill>
                <a:latin typeface="Arial"/>
                <a:ea typeface="Arial"/>
                <a:cs typeface="Arial"/>
              </a:defRPr>
            </a:lvl9pPr>
          </a:lstStyle>
          <a:p xmlns:a="http://schemas.openxmlformats.org/drawingml/2006/main">
            <a:pPr>
              <a:defRPr sz="2175" b="1">
                <a:solidFill>
                  <a:srgbClr val="203D35"/>
                </a:solidFill>
                <a:latin typeface="Arial"/>
                <a:ea typeface="Arial"/>
                <a:cs typeface="Arial"/>
              </a:defRPr>
            </a:pPr>
            <a:r>
              <a:rPr sz="2175" b="1">
                <a:solidFill>
                  <a:srgbClr val="203D35"/>
                </a:solidFill>
                <a:latin typeface="Arial"/>
                <a:ea typeface="Arial"/>
                <a:cs typeface="Arial"/>
              </a:rPr>
              <a:t>Không giới hạn tài nguyên: đầy đủ trên miền hữu hạn.</a:t>
            </a:r>
          </a:p>
          <a:p xmlns:a="http://schemas.openxmlformats.org/drawingml/2006/main">
            <a:pPr>
              <a:defRPr sz="2175" b="1">
                <a:solidFill>
                  <a:srgbClr val="203D35"/>
                </a:solidFill>
                <a:latin typeface="Arial"/>
                <a:ea typeface="Arial"/>
                <a:cs typeface="Arial"/>
              </a:defRPr>
            </a:pPr>
            <a:r>
              <a:rPr sz="2175" b="1">
                <a:solidFill>
                  <a:srgbClr val="203D35"/>
                </a:solidFill>
                <a:latin typeface="Arial"/>
                <a:ea typeface="Arial"/>
                <a:cs typeface="Arial"/>
              </a:rPr>
              <a:t>Có giới hạn: limit ≠ vô nghiệm.</a:t>
            </a:r>
          </a:p>
        </p:txBody>
      </p:sp>
    </p:spTree>
    <p:extLst>
      <p:ext uri="{BB962C8B-B14F-4D97-AF65-F5344CB8AC3E}">
        <p14:creationId xmlns:p14="http://schemas.microsoft.com/office/powerpoint/2010/main" val="1215040673"/>
      </p:ext>
    </p:extLst>
  </p:cSld>
</p:sld>
</file>

<file path=ppt/slides/slide5.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37AFD4-DEE6-4CC6-B718-2C33AA148875}"/>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Pipes: gán hướng cuối cùng</a:t>
            </a:r>
          </a:p>
        </p:txBody>
      </p:sp>
      <p:sp>
        <p:nvSpPr>
          <p:cNvPr id="2" name="">
            <a:extLst xmlns:a="http://schemas.openxmlformats.org/drawingml/2006/main">
              <a:ext uri="{FF2B5EF4-FFF2-40B4-BE49-F238E27FC236}">
                <a16:creationId xmlns:a16="http://schemas.microsoft.com/office/drawing/2014/main" id="{662D8492-322D-44D3-BD00-DDA13D1EC06A}"/>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05</a:t>
            </a:r>
          </a:p>
        </p:txBody>
      </p:sp>
      <p:sp>
        <p:nvSpPr>
          <p:cNvPr id="3" name="">
            <a:extLst xmlns:a="http://schemas.openxmlformats.org/drawingml/2006/main">
              <a:ext uri="{FF2B5EF4-FFF2-40B4-BE49-F238E27FC236}">
                <a16:creationId xmlns:a16="http://schemas.microsoft.com/office/drawing/2014/main" id="{0B6A2035-2E80-4532-9E57-B7A3FA7E3CF4}"/>
              </a:ext>
            </a:extLst>
          </p:cNvPr>
          <p:cNvSpPr>
            <a:spLocks xmlns:a="http://schemas.openxmlformats.org/drawingml/2006/main" noGrp="1"/>
          </p:cNvSpPr>
          <p:nvPr/>
        </p:nvSpPr>
        <p:spPr>
          <a:xfrm xmlns:a="http://schemas.openxmlformats.org/drawingml/2006/main">
            <a:off x="609600" y="1619250"/>
            <a:ext cx="109728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3D35"/>
                </a:solidFill>
                <a:latin typeface="Arial"/>
                <a:ea typeface="Arial"/>
                <a:cs typeface="Arial"/>
              </a:defRPr>
            </a:defPPr>
            <a:lvl1pPr>
              <a:defRPr sz="2250" b="0">
                <a:solidFill>
                  <a:srgbClr val="203D35"/>
                </a:solidFill>
                <a:latin typeface="Arial"/>
                <a:ea typeface="Arial"/>
                <a:cs typeface="Arial"/>
              </a:defRPr>
            </a:lvl1pPr>
            <a:lvl2pPr>
              <a:defRPr sz="2250" b="0">
                <a:solidFill>
                  <a:srgbClr val="203D35"/>
                </a:solidFill>
                <a:latin typeface="Arial"/>
                <a:ea typeface="Arial"/>
                <a:cs typeface="Arial"/>
              </a:defRPr>
            </a:lvl2pPr>
            <a:lvl3pPr>
              <a:defRPr sz="2250" b="0">
                <a:solidFill>
                  <a:srgbClr val="203D35"/>
                </a:solidFill>
                <a:latin typeface="Arial"/>
                <a:ea typeface="Arial"/>
                <a:cs typeface="Arial"/>
              </a:defRPr>
            </a:lvl3pPr>
            <a:lvl4pPr>
              <a:defRPr sz="2250" b="0">
                <a:solidFill>
                  <a:srgbClr val="203D35"/>
                </a:solidFill>
                <a:latin typeface="Arial"/>
                <a:ea typeface="Arial"/>
                <a:cs typeface="Arial"/>
              </a:defRPr>
            </a:lvl4pPr>
            <a:lvl5pPr>
              <a:defRPr sz="2250" b="0">
                <a:solidFill>
                  <a:srgbClr val="203D35"/>
                </a:solidFill>
                <a:latin typeface="Arial"/>
                <a:ea typeface="Arial"/>
                <a:cs typeface="Arial"/>
              </a:defRPr>
            </a:lvl5pPr>
            <a:lvl6pPr>
              <a:defRPr sz="2250" b="0">
                <a:solidFill>
                  <a:srgbClr val="203D35"/>
                </a:solidFill>
                <a:latin typeface="Arial"/>
                <a:ea typeface="Arial"/>
                <a:cs typeface="Arial"/>
              </a:defRPr>
            </a:lvl6pPr>
            <a:lvl7pPr>
              <a:defRPr sz="2250" b="0">
                <a:solidFill>
                  <a:srgbClr val="203D35"/>
                </a:solidFill>
                <a:latin typeface="Arial"/>
                <a:ea typeface="Arial"/>
                <a:cs typeface="Arial"/>
              </a:defRPr>
            </a:lvl7pPr>
            <a:lvl8pPr>
              <a:defRPr sz="2250" b="0">
                <a:solidFill>
                  <a:srgbClr val="203D35"/>
                </a:solidFill>
                <a:latin typeface="Arial"/>
                <a:ea typeface="Arial"/>
                <a:cs typeface="Arial"/>
              </a:defRPr>
            </a:lvl8pPr>
            <a:lvl9pPr>
              <a:defRPr sz="2250" b="0">
                <a:solidFill>
                  <a:srgbClr val="203D35"/>
                </a:solidFill>
                <a:latin typeface="Arial"/>
                <a:ea typeface="Arial"/>
                <a:cs typeface="Arial"/>
              </a:defRPr>
            </a:lvl9pPr>
          </a:lstStyle>
          <a:p xmlns:a="http://schemas.openxmlformats.org/drawingml/2006/main">
            <a:pPr>
              <a:defRPr sz="2250" b="0">
                <a:solidFill>
                  <a:srgbClr val="203D35"/>
                </a:solidFill>
                <a:latin typeface="Arial"/>
                <a:ea typeface="Arial"/>
                <a:cs typeface="Arial"/>
              </a:defRPr>
            </a:pPr>
            <a:r>
              <a:rPr sz="2250" b="0">
                <a:solidFill>
                  <a:srgbClr val="203D35"/>
                </a:solidFill>
                <a:latin typeface="Arial"/>
                <a:ea typeface="Arial"/>
                <a:cs typeface="Arial"/>
              </a:rPr>
              <a:t>Bitmask: trên 1 · phải 2 · dưới 4 · trái 8</a:t>
            </a:r>
          </a:p>
          <a:p xmlns:a="http://schemas.openxmlformats.org/drawingml/2006/main">
            <a:pPr>
              <a:defRPr sz="2250" b="0">
                <a:solidFill>
                  <a:srgbClr val="203D35"/>
                </a:solidFill>
                <a:latin typeface="Arial"/>
                <a:ea typeface="Arial"/>
                <a:cs typeface="Arial"/>
              </a:defRPr>
            </a:pPr>
            <a:r>
              <a:rPr sz="2250" b="0">
                <a:solidFill>
                  <a:srgbClr val="203D35"/>
                </a:solidFill>
                <a:latin typeface="Arial"/>
                <a:ea typeface="Arial"/>
                <a:cs typeface="Arial"/>
              </a:rPr>
              <a:t>0 trong search: chưa gán hướng.</a:t>
            </a:r>
          </a:p>
        </p:txBody>
      </p:sp>
      <p:sp>
        <p:nvSpPr>
          <p:cNvPr id="4" name="">
            <a:extLst xmlns:a="http://schemas.openxmlformats.org/drawingml/2006/main">
              <a:ext uri="{FF2B5EF4-FFF2-40B4-BE49-F238E27FC236}">
                <a16:creationId xmlns:a16="http://schemas.microsoft.com/office/drawing/2014/main" id="{F1344E3E-B3E7-40F7-99B9-AEDDE34ADDE5}"/>
              </a:ext>
            </a:extLst>
          </p:cNvPr>
          <p:cNvSpPr>
            <a:spLocks xmlns:a="http://schemas.openxmlformats.org/drawingml/2006/main" noGrp="1"/>
          </p:cNvSpPr>
          <p:nvPr/>
        </p:nvSpPr>
        <p:spPr>
          <a:xfrm xmlns:a="http://schemas.openxmlformats.org/drawingml/2006/main">
            <a:off x="609600" y="2905125"/>
            <a:ext cx="109728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3D35"/>
                </a:solidFill>
                <a:latin typeface="Arial"/>
                <a:ea typeface="Arial"/>
                <a:cs typeface="Arial"/>
              </a:defRPr>
            </a:defPPr>
            <a:lvl1pPr>
              <a:defRPr sz="2250" b="0">
                <a:solidFill>
                  <a:srgbClr val="203D35"/>
                </a:solidFill>
                <a:latin typeface="Arial"/>
                <a:ea typeface="Arial"/>
                <a:cs typeface="Arial"/>
              </a:defRPr>
            </a:lvl1pPr>
            <a:lvl2pPr>
              <a:defRPr sz="2250" b="0">
                <a:solidFill>
                  <a:srgbClr val="203D35"/>
                </a:solidFill>
                <a:latin typeface="Arial"/>
                <a:ea typeface="Arial"/>
                <a:cs typeface="Arial"/>
              </a:defRPr>
            </a:lvl2pPr>
            <a:lvl3pPr>
              <a:defRPr sz="2250" b="0">
                <a:solidFill>
                  <a:srgbClr val="203D35"/>
                </a:solidFill>
                <a:latin typeface="Arial"/>
                <a:ea typeface="Arial"/>
                <a:cs typeface="Arial"/>
              </a:defRPr>
            </a:lvl3pPr>
            <a:lvl4pPr>
              <a:defRPr sz="2250" b="0">
                <a:solidFill>
                  <a:srgbClr val="203D35"/>
                </a:solidFill>
                <a:latin typeface="Arial"/>
                <a:ea typeface="Arial"/>
                <a:cs typeface="Arial"/>
              </a:defRPr>
            </a:lvl4pPr>
            <a:lvl5pPr>
              <a:defRPr sz="2250" b="0">
                <a:solidFill>
                  <a:srgbClr val="203D35"/>
                </a:solidFill>
                <a:latin typeface="Arial"/>
                <a:ea typeface="Arial"/>
                <a:cs typeface="Arial"/>
              </a:defRPr>
            </a:lvl5pPr>
            <a:lvl6pPr>
              <a:defRPr sz="2250" b="0">
                <a:solidFill>
                  <a:srgbClr val="203D35"/>
                </a:solidFill>
                <a:latin typeface="Arial"/>
                <a:ea typeface="Arial"/>
                <a:cs typeface="Arial"/>
              </a:defRPr>
            </a:lvl6pPr>
            <a:lvl7pPr>
              <a:defRPr sz="2250" b="0">
                <a:solidFill>
                  <a:srgbClr val="203D35"/>
                </a:solidFill>
                <a:latin typeface="Arial"/>
                <a:ea typeface="Arial"/>
                <a:cs typeface="Arial"/>
              </a:defRPr>
            </a:lvl7pPr>
            <a:lvl8pPr>
              <a:defRPr sz="2250" b="0">
                <a:solidFill>
                  <a:srgbClr val="203D35"/>
                </a:solidFill>
                <a:latin typeface="Arial"/>
                <a:ea typeface="Arial"/>
                <a:cs typeface="Arial"/>
              </a:defRPr>
            </a:lvl8pPr>
            <a:lvl9pPr>
              <a:defRPr sz="2250" b="0">
                <a:solidFill>
                  <a:srgbClr val="203D35"/>
                </a:solidFill>
                <a:latin typeface="Arial"/>
                <a:ea typeface="Arial"/>
                <a:cs typeface="Arial"/>
              </a:defRPr>
            </a:lvl9pPr>
          </a:lstStyle>
          <a:p xmlns:a="http://schemas.openxmlformats.org/drawingml/2006/main">
            <a:pPr>
              <a:defRPr sz="2250" b="0">
                <a:solidFill>
                  <a:srgbClr val="203D35"/>
                </a:solidFill>
                <a:latin typeface="Arial"/>
                <a:ea typeface="Arial"/>
                <a:cs typeface="Arial"/>
              </a:defRPr>
            </a:pPr>
            <a:r>
              <a:rPr sz="2250" b="0">
                <a:solidFill>
                  <a:srgbClr val="203D35"/>
                </a:solidFill>
                <a:latin typeface="Arial"/>
                <a:ea typeface="Arial"/>
                <a:cs typeface="Arial"/>
              </a:rPr>
              <a:t>Cắt nhánh: đầu hở, miền rỗng, chu trình đã có,</a:t>
            </a:r>
          </a:p>
          <a:p xmlns:a="http://schemas.openxmlformats.org/drawingml/2006/main">
            <a:pPr>
              <a:defRPr sz="2250" b="0">
                <a:solidFill>
                  <a:srgbClr val="203D35"/>
                </a:solidFill>
                <a:latin typeface="Arial"/>
                <a:ea typeface="Arial"/>
                <a:cs typeface="Arial"/>
              </a:defRPr>
            </a:pPr>
            <a:r>
              <a:rPr sz="2250" b="0">
                <a:solidFill>
                  <a:srgbClr val="203D35"/>
                </a:solidFill>
                <a:latin typeface="Arial"/>
                <a:ea typeface="Arial"/>
                <a:cs typeface="Arial"/>
              </a:rPr>
              <a:t>đồ thị các cạnh còn khả thi không liên thông.</a:t>
            </a:r>
          </a:p>
        </p:txBody>
      </p:sp>
      <p:sp>
        <p:nvSpPr>
          <p:cNvPr id="5" name="">
            <a:extLst xmlns:a="http://schemas.openxmlformats.org/drawingml/2006/main">
              <a:ext uri="{FF2B5EF4-FFF2-40B4-BE49-F238E27FC236}">
                <a16:creationId xmlns:a16="http://schemas.microsoft.com/office/drawing/2014/main" id="{F43EBA99-06D3-448A-9A4F-FAEBD68797E3}"/>
              </a:ext>
            </a:extLst>
          </p:cNvPr>
          <p:cNvSpPr>
            <a:spLocks xmlns:a="http://schemas.openxmlformats.org/drawingml/2006/main" noGrp="1"/>
          </p:cNvSpPr>
          <p:nvPr/>
        </p:nvSpPr>
        <p:spPr>
          <a:xfrm xmlns:a="http://schemas.openxmlformats.org/drawingml/2006/main">
            <a:off x="609600" y="44767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244E42"/>
                </a:solidFill>
                <a:latin typeface="Arial"/>
                <a:ea typeface="Arial"/>
                <a:cs typeface="Arial"/>
              </a:defRPr>
            </a:defPPr>
            <a:lvl1pPr>
              <a:defRPr sz="3150" b="1">
                <a:solidFill>
                  <a:srgbClr val="244E42"/>
                </a:solidFill>
                <a:latin typeface="Arial"/>
                <a:ea typeface="Arial"/>
                <a:cs typeface="Arial"/>
              </a:defRPr>
            </a:lvl1pPr>
            <a:lvl2pPr>
              <a:defRPr sz="3150" b="1">
                <a:solidFill>
                  <a:srgbClr val="244E42"/>
                </a:solidFill>
                <a:latin typeface="Arial"/>
                <a:ea typeface="Arial"/>
                <a:cs typeface="Arial"/>
              </a:defRPr>
            </a:lvl2pPr>
            <a:lvl3pPr>
              <a:defRPr sz="3150" b="1">
                <a:solidFill>
                  <a:srgbClr val="244E42"/>
                </a:solidFill>
                <a:latin typeface="Arial"/>
                <a:ea typeface="Arial"/>
                <a:cs typeface="Arial"/>
              </a:defRPr>
            </a:lvl3pPr>
            <a:lvl4pPr>
              <a:defRPr sz="3150" b="1">
                <a:solidFill>
                  <a:srgbClr val="244E42"/>
                </a:solidFill>
                <a:latin typeface="Arial"/>
                <a:ea typeface="Arial"/>
                <a:cs typeface="Arial"/>
              </a:defRPr>
            </a:lvl4pPr>
            <a:lvl5pPr>
              <a:defRPr sz="3150" b="1">
                <a:solidFill>
                  <a:srgbClr val="244E42"/>
                </a:solidFill>
                <a:latin typeface="Arial"/>
                <a:ea typeface="Arial"/>
                <a:cs typeface="Arial"/>
              </a:defRPr>
            </a:lvl5pPr>
            <a:lvl6pPr>
              <a:defRPr sz="3150" b="1">
                <a:solidFill>
                  <a:srgbClr val="244E42"/>
                </a:solidFill>
                <a:latin typeface="Arial"/>
                <a:ea typeface="Arial"/>
                <a:cs typeface="Arial"/>
              </a:defRPr>
            </a:lvl6pPr>
            <a:lvl7pPr>
              <a:defRPr sz="3150" b="1">
                <a:solidFill>
                  <a:srgbClr val="244E42"/>
                </a:solidFill>
                <a:latin typeface="Arial"/>
                <a:ea typeface="Arial"/>
                <a:cs typeface="Arial"/>
              </a:defRPr>
            </a:lvl7pPr>
            <a:lvl8pPr>
              <a:defRPr sz="3150" b="1">
                <a:solidFill>
                  <a:srgbClr val="244E42"/>
                </a:solidFill>
                <a:latin typeface="Arial"/>
                <a:ea typeface="Arial"/>
                <a:cs typeface="Arial"/>
              </a:defRPr>
            </a:lvl8pPr>
            <a:lvl9pPr>
              <a:defRPr sz="3150" b="1">
                <a:solidFill>
                  <a:srgbClr val="244E42"/>
                </a:solidFill>
                <a:latin typeface="Arial"/>
                <a:ea typeface="Arial"/>
                <a:cs typeface="Arial"/>
              </a:defRPr>
            </a:lvl9pPr>
          </a:lstStyle>
          <a:p xmlns:a="http://schemas.openxmlformats.org/drawingml/2006/main">
            <a:pPr>
              <a:defRPr sz="3150" b="1">
                <a:solidFill>
                  <a:srgbClr val="244E42"/>
                </a:solidFill>
                <a:latin typeface="Arial"/>
                <a:ea typeface="Arial"/>
                <a:cs typeface="Arial"/>
              </a:defRPr>
            </a:pPr>
            <a:r>
              <a:rPr sz="3150" b="1">
                <a:solidFill>
                  <a:srgbClr val="244E42"/>
                </a:solidFill>
                <a:latin typeface="Arial"/>
                <a:ea typeface="Arial"/>
                <a:cs typeface="Arial"/>
              </a:rPr>
              <a:t>h(s) = Σ [1 + 0.25 × (|Dᵢ| − 1)]</a:t>
            </a:r>
          </a:p>
        </p:txBody>
      </p:sp>
      <p:sp>
        <p:nvSpPr>
          <p:cNvPr id="6" name="">
            <a:extLst xmlns:a="http://schemas.openxmlformats.org/drawingml/2006/main">
              <a:ext uri="{FF2B5EF4-FFF2-40B4-BE49-F238E27FC236}">
                <a16:creationId xmlns:a16="http://schemas.microsoft.com/office/drawing/2014/main" id="{DF8D26D3-4166-4316-B7C0-B04CD671CF1B}"/>
              </a:ext>
            </a:extLst>
          </p:cNvPr>
          <p:cNvSpPr>
            <a:spLocks xmlns:a="http://schemas.openxmlformats.org/drawingml/2006/main" noGrp="1"/>
          </p:cNvSpPr>
          <p:nvPr/>
        </p:nvSpPr>
        <p:spPr>
          <a:xfrm xmlns:a="http://schemas.openxmlformats.org/drawingml/2006/main">
            <a:off x="609600" y="53340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1745D"/>
                </a:solidFill>
                <a:latin typeface="Arial"/>
                <a:ea typeface="Arial"/>
                <a:cs typeface="Arial"/>
              </a:defRPr>
            </a:defPPr>
            <a:lvl1pPr>
              <a:defRPr sz="1950" b="0">
                <a:solidFill>
                  <a:srgbClr val="61745D"/>
                </a:solidFill>
                <a:latin typeface="Arial"/>
                <a:ea typeface="Arial"/>
                <a:cs typeface="Arial"/>
              </a:defRPr>
            </a:lvl1pPr>
            <a:lvl2pPr>
              <a:defRPr sz="1950" b="0">
                <a:solidFill>
                  <a:srgbClr val="61745D"/>
                </a:solidFill>
                <a:latin typeface="Arial"/>
                <a:ea typeface="Arial"/>
                <a:cs typeface="Arial"/>
              </a:defRPr>
            </a:lvl2pPr>
            <a:lvl3pPr>
              <a:defRPr sz="1950" b="0">
                <a:solidFill>
                  <a:srgbClr val="61745D"/>
                </a:solidFill>
                <a:latin typeface="Arial"/>
                <a:ea typeface="Arial"/>
                <a:cs typeface="Arial"/>
              </a:defRPr>
            </a:lvl3pPr>
            <a:lvl4pPr>
              <a:defRPr sz="1950" b="0">
                <a:solidFill>
                  <a:srgbClr val="61745D"/>
                </a:solidFill>
                <a:latin typeface="Arial"/>
                <a:ea typeface="Arial"/>
                <a:cs typeface="Arial"/>
              </a:defRPr>
            </a:lvl4pPr>
            <a:lvl5pPr>
              <a:defRPr sz="1950" b="0">
                <a:solidFill>
                  <a:srgbClr val="61745D"/>
                </a:solidFill>
                <a:latin typeface="Arial"/>
                <a:ea typeface="Arial"/>
                <a:cs typeface="Arial"/>
              </a:defRPr>
            </a:lvl5pPr>
            <a:lvl6pPr>
              <a:defRPr sz="1950" b="0">
                <a:solidFill>
                  <a:srgbClr val="61745D"/>
                </a:solidFill>
                <a:latin typeface="Arial"/>
                <a:ea typeface="Arial"/>
                <a:cs typeface="Arial"/>
              </a:defRPr>
            </a:lvl6pPr>
            <a:lvl7pPr>
              <a:defRPr sz="1950" b="0">
                <a:solidFill>
                  <a:srgbClr val="61745D"/>
                </a:solidFill>
                <a:latin typeface="Arial"/>
                <a:ea typeface="Arial"/>
                <a:cs typeface="Arial"/>
              </a:defRPr>
            </a:lvl7pPr>
            <a:lvl8pPr>
              <a:defRPr sz="1950" b="0">
                <a:solidFill>
                  <a:srgbClr val="61745D"/>
                </a:solidFill>
                <a:latin typeface="Arial"/>
                <a:ea typeface="Arial"/>
                <a:cs typeface="Arial"/>
              </a:defRPr>
            </a:lvl8pPr>
            <a:lvl9pPr>
              <a:defRPr sz="1950" b="0">
                <a:solidFill>
                  <a:srgbClr val="61745D"/>
                </a:solidFill>
                <a:latin typeface="Arial"/>
                <a:ea typeface="Arial"/>
                <a:cs typeface="Arial"/>
              </a:defRPr>
            </a:lvl9pPr>
          </a:lstStyle>
          <a:p xmlns:a="http://schemas.openxmlformats.org/drawingml/2006/main">
            <a:pPr>
              <a:defRPr sz="1950" b="0">
                <a:solidFill>
                  <a:srgbClr val="61745D"/>
                </a:solidFill>
                <a:latin typeface="Arial"/>
                <a:ea typeface="Arial"/>
                <a:cs typeface="Arial"/>
              </a:defRPr>
            </a:pPr>
            <a:r>
              <a:rPr sz="1950" b="0">
                <a:solidFill>
                  <a:srgbClr val="61745D"/>
                </a:solidFill>
                <a:latin typeface="Arial"/>
                <a:ea typeface="Arial"/>
                <a:cs typeface="Arial"/>
              </a:rPr>
              <a:t>Tổng trên các ô chưa gán; Dᵢ là miền hướng còn lại.</a:t>
            </a:r>
          </a:p>
        </p:txBody>
      </p:sp>
    </p:spTree>
    <p:extLst>
      <p:ext uri="{BB962C8B-B14F-4D97-AF65-F5344CB8AC3E}">
        <p14:creationId xmlns:p14="http://schemas.microsoft.com/office/powerpoint/2010/main" val="433213354"/>
      </p:ext>
    </p:extLst>
  </p:cSld>
</p:sld>
</file>

<file path=ppt/slides/slide6.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D44A53D-A73A-454B-B33A-1BBE5633B45E}"/>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Light Up: quyết định có đặt đèn</a:t>
            </a:r>
          </a:p>
        </p:txBody>
      </p:sp>
      <p:sp>
        <p:nvSpPr>
          <p:cNvPr id="2" name="">
            <a:extLst xmlns:a="http://schemas.openxmlformats.org/drawingml/2006/main">
              <a:ext uri="{FF2B5EF4-FFF2-40B4-BE49-F238E27FC236}">
                <a16:creationId xmlns:a16="http://schemas.microsoft.com/office/drawing/2014/main" id="{18A9BBCF-F5A6-4334-B767-BA5124E29993}"/>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06</a:t>
            </a:r>
          </a:p>
        </p:txBody>
      </p:sp>
      <p:sp>
        <p:nvSpPr>
          <p:cNvPr id="3" name="">
            <a:extLst xmlns:a="http://schemas.openxmlformats.org/drawingml/2006/main">
              <a:ext uri="{FF2B5EF4-FFF2-40B4-BE49-F238E27FC236}">
                <a16:creationId xmlns:a16="http://schemas.microsoft.com/office/drawing/2014/main" id="{1F12B27B-FDA3-4323-9DAD-F0B17CCBD78B}"/>
              </a:ext>
            </a:extLst>
          </p:cNvPr>
          <p:cNvSpPr>
            <a:spLocks xmlns:a="http://schemas.openxmlformats.org/drawingml/2006/main" noGrp="1"/>
          </p:cNvSpPr>
          <p:nvPr/>
        </p:nvSpPr>
        <p:spPr>
          <a:xfrm xmlns:a="http://schemas.openxmlformats.org/drawingml/2006/main">
            <a:off x="609600" y="1619250"/>
            <a:ext cx="109728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−1: chưa quyết định · 0: không có đèn · 1: có đèn</a:t>
            </a:r>
          </a:p>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Tính trước tập ô nhìn thấy và hàng xóm của ô số.</a:t>
            </a:r>
          </a:p>
        </p:txBody>
      </p:sp>
      <p:sp>
        <p:nvSpPr>
          <p:cNvPr id="4" name="">
            <a:extLst xmlns:a="http://schemas.openxmlformats.org/drawingml/2006/main">
              <a:ext uri="{FF2B5EF4-FFF2-40B4-BE49-F238E27FC236}">
                <a16:creationId xmlns:a16="http://schemas.microsoft.com/office/drawing/2014/main" id="{4942C690-D93A-4941-A093-AD2752BDB9D8}"/>
              </a:ext>
            </a:extLst>
          </p:cNvPr>
          <p:cNvSpPr>
            <a:spLocks xmlns:a="http://schemas.openxmlformats.org/drawingml/2006/main" noGrp="1"/>
          </p:cNvSpPr>
          <p:nvPr/>
        </p:nvSpPr>
        <p:spPr>
          <a:xfrm xmlns:a="http://schemas.openxmlformats.org/drawingml/2006/main">
            <a:off x="609600" y="2905125"/>
            <a:ext cx="109728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Cắt nhánh: đèn nhìn nhau, vượt/thiếu khả năng đạt ô số,</a:t>
            </a:r>
          </a:p>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ô chưa sáng không còn ứng viên chiếu tới.</a:t>
            </a:r>
          </a:p>
        </p:txBody>
      </p:sp>
      <p:sp>
        <p:nvSpPr>
          <p:cNvPr id="5" name="">
            <a:extLst xmlns:a="http://schemas.openxmlformats.org/drawingml/2006/main">
              <a:ext uri="{FF2B5EF4-FFF2-40B4-BE49-F238E27FC236}">
                <a16:creationId xmlns:a16="http://schemas.microsoft.com/office/drawing/2014/main" id="{A7B6C3AD-0599-4C11-BBD6-BDCB4731BF7A}"/>
              </a:ext>
            </a:extLst>
          </p:cNvPr>
          <p:cNvSpPr>
            <a:spLocks xmlns:a="http://schemas.openxmlformats.org/drawingml/2006/main" noGrp="1"/>
          </p:cNvSpPr>
          <p:nvPr/>
        </p:nvSpPr>
        <p:spPr>
          <a:xfrm xmlns:a="http://schemas.openxmlformats.org/drawingml/2006/main">
            <a:off x="609600" y="44767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44E42"/>
                </a:solidFill>
                <a:latin typeface="Arial"/>
                <a:ea typeface="Arial"/>
                <a:cs typeface="Arial"/>
              </a:defRPr>
            </a:defPPr>
            <a:lvl1pPr>
              <a:defRPr sz="2850" b="1">
                <a:solidFill>
                  <a:srgbClr val="244E42"/>
                </a:solidFill>
                <a:latin typeface="Arial"/>
                <a:ea typeface="Arial"/>
                <a:cs typeface="Arial"/>
              </a:defRPr>
            </a:lvl1pPr>
            <a:lvl2pPr>
              <a:defRPr sz="2850" b="1">
                <a:solidFill>
                  <a:srgbClr val="244E42"/>
                </a:solidFill>
                <a:latin typeface="Arial"/>
                <a:ea typeface="Arial"/>
                <a:cs typeface="Arial"/>
              </a:defRPr>
            </a:lvl2pPr>
            <a:lvl3pPr>
              <a:defRPr sz="2850" b="1">
                <a:solidFill>
                  <a:srgbClr val="244E42"/>
                </a:solidFill>
                <a:latin typeface="Arial"/>
                <a:ea typeface="Arial"/>
                <a:cs typeface="Arial"/>
              </a:defRPr>
            </a:lvl3pPr>
            <a:lvl4pPr>
              <a:defRPr sz="2850" b="1">
                <a:solidFill>
                  <a:srgbClr val="244E42"/>
                </a:solidFill>
                <a:latin typeface="Arial"/>
                <a:ea typeface="Arial"/>
                <a:cs typeface="Arial"/>
              </a:defRPr>
            </a:lvl4pPr>
            <a:lvl5pPr>
              <a:defRPr sz="2850" b="1">
                <a:solidFill>
                  <a:srgbClr val="244E42"/>
                </a:solidFill>
                <a:latin typeface="Arial"/>
                <a:ea typeface="Arial"/>
                <a:cs typeface="Arial"/>
              </a:defRPr>
            </a:lvl5pPr>
            <a:lvl6pPr>
              <a:defRPr sz="2850" b="1">
                <a:solidFill>
                  <a:srgbClr val="244E42"/>
                </a:solidFill>
                <a:latin typeface="Arial"/>
                <a:ea typeface="Arial"/>
                <a:cs typeface="Arial"/>
              </a:defRPr>
            </a:lvl6pPr>
            <a:lvl7pPr>
              <a:defRPr sz="2850" b="1">
                <a:solidFill>
                  <a:srgbClr val="244E42"/>
                </a:solidFill>
                <a:latin typeface="Arial"/>
                <a:ea typeface="Arial"/>
                <a:cs typeface="Arial"/>
              </a:defRPr>
            </a:lvl7pPr>
            <a:lvl8pPr>
              <a:defRPr sz="2850" b="1">
                <a:solidFill>
                  <a:srgbClr val="244E42"/>
                </a:solidFill>
                <a:latin typeface="Arial"/>
                <a:ea typeface="Arial"/>
                <a:cs typeface="Arial"/>
              </a:defRPr>
            </a:lvl8pPr>
            <a:lvl9pPr>
              <a:defRPr sz="2850" b="1">
                <a:solidFill>
                  <a:srgbClr val="244E42"/>
                </a:solidFill>
                <a:latin typeface="Arial"/>
                <a:ea typeface="Arial"/>
                <a:cs typeface="Arial"/>
              </a:defRPr>
            </a:lvl9pPr>
          </a:lstStyle>
          <a:p xmlns:a="http://schemas.openxmlformats.org/drawingml/2006/main">
            <a:pPr>
              <a:defRPr sz="2850" b="1">
                <a:solidFill>
                  <a:srgbClr val="244E42"/>
                </a:solidFill>
                <a:latin typeface="Arial"/>
                <a:ea typeface="Arial"/>
                <a:cs typeface="Arial"/>
              </a:defRPr>
            </a:pPr>
            <a:r>
              <a:rPr sz="2850" b="1">
                <a:solidFill>
                  <a:srgbClr val="244E42"/>
                </a:solidFill>
                <a:latin typeface="Arial"/>
                <a:ea typeface="Arial"/>
                <a:cs typeface="Arial"/>
              </a:rPr>
              <a:t>h(s) = ô chưa sáng + tổng đèn còn thiếu</a:t>
            </a:r>
          </a:p>
        </p:txBody>
      </p:sp>
      <p:sp>
        <p:nvSpPr>
          <p:cNvPr id="6" name="">
            <a:extLst xmlns:a="http://schemas.openxmlformats.org/drawingml/2006/main">
              <a:ext uri="{FF2B5EF4-FFF2-40B4-BE49-F238E27FC236}">
                <a16:creationId xmlns:a16="http://schemas.microsoft.com/office/drawing/2014/main" id="{F7DC6011-D6EB-451B-8C25-72F2C449CD3E}"/>
              </a:ext>
            </a:extLst>
          </p:cNvPr>
          <p:cNvSpPr>
            <a:spLocks xmlns:a="http://schemas.openxmlformats.org/drawingml/2006/main" noGrp="1"/>
          </p:cNvSpPr>
          <p:nvPr/>
        </p:nvSpPr>
        <p:spPr>
          <a:xfrm xmlns:a="http://schemas.openxmlformats.org/drawingml/2006/main">
            <a:off x="609600" y="53340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61745D"/>
                </a:solidFill>
                <a:latin typeface="Arial"/>
                <a:ea typeface="Arial"/>
                <a:cs typeface="Arial"/>
              </a:defRPr>
            </a:defPPr>
            <a:lvl1pPr>
              <a:defRPr sz="1950" b="0">
                <a:solidFill>
                  <a:srgbClr val="61745D"/>
                </a:solidFill>
                <a:latin typeface="Arial"/>
                <a:ea typeface="Arial"/>
                <a:cs typeface="Arial"/>
              </a:defRPr>
            </a:lvl1pPr>
            <a:lvl2pPr>
              <a:defRPr sz="1950" b="0">
                <a:solidFill>
                  <a:srgbClr val="61745D"/>
                </a:solidFill>
                <a:latin typeface="Arial"/>
                <a:ea typeface="Arial"/>
                <a:cs typeface="Arial"/>
              </a:defRPr>
            </a:lvl2pPr>
            <a:lvl3pPr>
              <a:defRPr sz="1950" b="0">
                <a:solidFill>
                  <a:srgbClr val="61745D"/>
                </a:solidFill>
                <a:latin typeface="Arial"/>
                <a:ea typeface="Arial"/>
                <a:cs typeface="Arial"/>
              </a:defRPr>
            </a:lvl3pPr>
            <a:lvl4pPr>
              <a:defRPr sz="1950" b="0">
                <a:solidFill>
                  <a:srgbClr val="61745D"/>
                </a:solidFill>
                <a:latin typeface="Arial"/>
                <a:ea typeface="Arial"/>
                <a:cs typeface="Arial"/>
              </a:defRPr>
            </a:lvl4pPr>
            <a:lvl5pPr>
              <a:defRPr sz="1950" b="0">
                <a:solidFill>
                  <a:srgbClr val="61745D"/>
                </a:solidFill>
                <a:latin typeface="Arial"/>
                <a:ea typeface="Arial"/>
                <a:cs typeface="Arial"/>
              </a:defRPr>
            </a:lvl5pPr>
            <a:lvl6pPr>
              <a:defRPr sz="1950" b="0">
                <a:solidFill>
                  <a:srgbClr val="61745D"/>
                </a:solidFill>
                <a:latin typeface="Arial"/>
                <a:ea typeface="Arial"/>
                <a:cs typeface="Arial"/>
              </a:defRPr>
            </a:lvl6pPr>
            <a:lvl7pPr>
              <a:defRPr sz="1950" b="0">
                <a:solidFill>
                  <a:srgbClr val="61745D"/>
                </a:solidFill>
                <a:latin typeface="Arial"/>
                <a:ea typeface="Arial"/>
                <a:cs typeface="Arial"/>
              </a:defRPr>
            </a:lvl7pPr>
            <a:lvl8pPr>
              <a:defRPr sz="1950" b="0">
                <a:solidFill>
                  <a:srgbClr val="61745D"/>
                </a:solidFill>
                <a:latin typeface="Arial"/>
                <a:ea typeface="Arial"/>
                <a:cs typeface="Arial"/>
              </a:defRPr>
            </a:lvl8pPr>
            <a:lvl9pPr>
              <a:defRPr sz="1950" b="0">
                <a:solidFill>
                  <a:srgbClr val="61745D"/>
                </a:solidFill>
                <a:latin typeface="Arial"/>
                <a:ea typeface="Arial"/>
                <a:cs typeface="Arial"/>
              </a:defRPr>
            </a:lvl9pPr>
          </a:lstStyle>
          <a:p xmlns:a="http://schemas.openxmlformats.org/drawingml/2006/main">
            <a:pPr>
              <a:defRPr sz="1950" b="0">
                <a:solidFill>
                  <a:srgbClr val="61745D"/>
                </a:solidFill>
                <a:latin typeface="Arial"/>
                <a:ea typeface="Arial"/>
                <a:cs typeface="Arial"/>
              </a:defRPr>
            </a:pPr>
            <a:r>
              <a:rPr sz="1950" b="0">
                <a:solidFill>
                  <a:srgbClr val="61745D"/>
                </a:solidFill>
                <a:latin typeface="Arial"/>
                <a:ea typeface="Arial"/>
                <a:cs typeface="Arial"/>
              </a:rPr>
              <a:t>Hàm xếp hạng; không bảo đảm ít đèn hay ít nước đi nhất.</a:t>
            </a:r>
          </a:p>
        </p:txBody>
      </p:sp>
    </p:spTree>
    <p:extLst>
      <p:ext uri="{BB962C8B-B14F-4D97-AF65-F5344CB8AC3E}">
        <p14:creationId xmlns:p14="http://schemas.microsoft.com/office/powerpoint/2010/main" val="1334561595"/>
      </p:ext>
    </p:extLst>
  </p:cSld>
</p:sld>
</file>

<file path=ppt/slides/slide7.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A3FDD4-1385-49D7-B03F-682903275679}"/>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Demo là lịch sử xét trạng thái</a:t>
            </a:r>
          </a:p>
        </p:txBody>
      </p:sp>
      <p:sp>
        <p:nvSpPr>
          <p:cNvPr id="2" name="">
            <a:extLst xmlns:a="http://schemas.openxmlformats.org/drawingml/2006/main">
              <a:ext uri="{FF2B5EF4-FFF2-40B4-BE49-F238E27FC236}">
                <a16:creationId xmlns:a16="http://schemas.microsoft.com/office/drawing/2014/main" id="{2C827419-1D76-4ACB-8374-F481EAB73B0F}"/>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07</a:t>
            </a:r>
          </a:p>
        </p:txBody>
      </p:sp>
      <p:pic>
        <p:nvPicPr>
          <p:cNvPr id="3" name="">
            <a:extLst xmlns:a="http://schemas.openxmlformats.org/drawingml/2006/main">
              <a:ext uri="{FF2B5EF4-FFF2-40B4-BE49-F238E27FC236}">
                <a16:creationId xmlns:a16="http://schemas.microsoft.com/office/drawing/2014/main" id="{6E58C14A-EC35-4C7C-9031-1116B9BA0610}"/>
              </a:ext>
            </a:extLst>
          </p:cNvPr>
          <p:cNvPicPr>
            <a:picLocks xmlns:a="http://schemas.openxmlformats.org/drawingml/2006/main" noChangeAspect="1"/>
          </p:cNvPicPr>
          <p:nvPr/>
        </p:nvPicPr>
        <p:blipFill>
          <a:blip xmlns:r="http://schemas.openxmlformats.org/officeDocument/2006/relationships" xmlns:a="http://schemas.openxmlformats.org/drawingml/2006/main" r:embed="R91aee73e001b469d"/>
          <a:stretch xmlns:a="http://schemas.openxmlformats.org/drawingml/2006/main"/>
        </p:blipFill>
        <p:spPr>
          <a:xfrm xmlns:a="http://schemas.openxmlformats.org/drawingml/2006/main">
            <a:off x="1449008" y="1428750"/>
            <a:ext cx="5798309"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92DEB5-C522-4102-BDEA-14B72F840526}"/>
              </a:ext>
            </a:extLst>
          </p:cNvPr>
          <p:cNvSpPr>
            <a:spLocks xmlns:a="http://schemas.openxmlformats.org/drawingml/2006/main" noGrp="1"/>
          </p:cNvSpPr>
          <p:nvPr/>
        </p:nvSpPr>
        <p:spPr>
          <a:xfrm xmlns:a="http://schemas.openxmlformats.org/drawingml/2006/main">
            <a:off x="8572500" y="1762125"/>
            <a:ext cx="2952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3D35"/>
                </a:solidFill>
                <a:latin typeface="Arial"/>
                <a:ea typeface="Arial"/>
                <a:cs typeface="Arial"/>
              </a:defRPr>
            </a:defPPr>
            <a:lvl1pPr>
              <a:defRPr sz="2100" b="0">
                <a:solidFill>
                  <a:srgbClr val="203D35"/>
                </a:solidFill>
                <a:latin typeface="Arial"/>
                <a:ea typeface="Arial"/>
                <a:cs typeface="Arial"/>
              </a:defRPr>
            </a:lvl1pPr>
            <a:lvl2pPr>
              <a:defRPr sz="2100" b="0">
                <a:solidFill>
                  <a:srgbClr val="203D35"/>
                </a:solidFill>
                <a:latin typeface="Arial"/>
                <a:ea typeface="Arial"/>
                <a:cs typeface="Arial"/>
              </a:defRPr>
            </a:lvl2pPr>
            <a:lvl3pPr>
              <a:defRPr sz="2100" b="0">
                <a:solidFill>
                  <a:srgbClr val="203D35"/>
                </a:solidFill>
                <a:latin typeface="Arial"/>
                <a:ea typeface="Arial"/>
                <a:cs typeface="Arial"/>
              </a:defRPr>
            </a:lvl3pPr>
            <a:lvl4pPr>
              <a:defRPr sz="2100" b="0">
                <a:solidFill>
                  <a:srgbClr val="203D35"/>
                </a:solidFill>
                <a:latin typeface="Arial"/>
                <a:ea typeface="Arial"/>
                <a:cs typeface="Arial"/>
              </a:defRPr>
            </a:lvl4pPr>
            <a:lvl5pPr>
              <a:defRPr sz="2100" b="0">
                <a:solidFill>
                  <a:srgbClr val="203D35"/>
                </a:solidFill>
                <a:latin typeface="Arial"/>
                <a:ea typeface="Arial"/>
                <a:cs typeface="Arial"/>
              </a:defRPr>
            </a:lvl5pPr>
            <a:lvl6pPr>
              <a:defRPr sz="2100" b="0">
                <a:solidFill>
                  <a:srgbClr val="203D35"/>
                </a:solidFill>
                <a:latin typeface="Arial"/>
                <a:ea typeface="Arial"/>
                <a:cs typeface="Arial"/>
              </a:defRPr>
            </a:lvl6pPr>
            <a:lvl7pPr>
              <a:defRPr sz="2100" b="0">
                <a:solidFill>
                  <a:srgbClr val="203D35"/>
                </a:solidFill>
                <a:latin typeface="Arial"/>
                <a:ea typeface="Arial"/>
                <a:cs typeface="Arial"/>
              </a:defRPr>
            </a:lvl7pPr>
            <a:lvl8pPr>
              <a:defRPr sz="2100" b="0">
                <a:solidFill>
                  <a:srgbClr val="203D35"/>
                </a:solidFill>
                <a:latin typeface="Arial"/>
                <a:ea typeface="Arial"/>
                <a:cs typeface="Arial"/>
              </a:defRPr>
            </a:lvl8pPr>
            <a:lvl9pPr>
              <a:defRPr sz="2100" b="0">
                <a:solidFill>
                  <a:srgbClr val="203D35"/>
                </a:solidFill>
                <a:latin typeface="Arial"/>
                <a:ea typeface="Arial"/>
                <a:cs typeface="Arial"/>
              </a:defRPr>
            </a:lvl9pPr>
          </a:lstStyle>
          <a:p xmlns:a="http://schemas.openxmlformats.org/drawingml/2006/main">
            <a:pPr>
              <a:defRPr sz="2100" b="0">
                <a:solidFill>
                  <a:srgbClr val="203D35"/>
                </a:solidFill>
                <a:latin typeface="Arial"/>
                <a:ea typeface="Arial"/>
                <a:cs typeface="Arial"/>
              </a:defRPr>
            </a:pPr>
            <a:r>
              <a:rPr sz="2100" b="0">
                <a:solidFill>
                  <a:srgbClr val="203D35"/>
                </a:solidFill>
                <a:latin typeface="Arial"/>
                <a:ea typeface="Arial"/>
                <a:cs typeface="Arial"/>
              </a:rPr>
              <a:t>Lùi/tiến, tự chạy,</a:t>
            </a:r>
          </a:p>
          <a:p xmlns:a="http://schemas.openxmlformats.org/drawingml/2006/main">
            <a:pPr>
              <a:defRPr sz="2100" b="0">
                <a:solidFill>
                  <a:srgbClr val="203D35"/>
                </a:solidFill>
                <a:latin typeface="Arial"/>
                <a:ea typeface="Arial"/>
                <a:cs typeface="Arial"/>
              </a:defRPr>
            </a:pPr>
            <a:r>
              <a:rPr sz="2100" b="0">
                <a:solidFill>
                  <a:srgbClr val="203D35"/>
                </a:solidFill>
                <a:latin typeface="Arial"/>
                <a:ea typeface="Arial"/>
                <a:cs typeface="Arial"/>
              </a:rPr>
              <a:t>thanh trượt.</a:t>
            </a:r>
          </a:p>
        </p:txBody>
      </p:sp>
      <p:sp>
        <p:nvSpPr>
          <p:cNvPr id="5" name="">
            <a:extLst xmlns:a="http://schemas.openxmlformats.org/drawingml/2006/main">
              <a:ext uri="{FF2B5EF4-FFF2-40B4-BE49-F238E27FC236}">
                <a16:creationId xmlns:a16="http://schemas.microsoft.com/office/drawing/2014/main" id="{846D34AE-2091-4BA3-965A-810EAC37EF18}"/>
              </a:ext>
            </a:extLst>
          </p:cNvPr>
          <p:cNvSpPr>
            <a:spLocks xmlns:a="http://schemas.openxmlformats.org/drawingml/2006/main" noGrp="1"/>
          </p:cNvSpPr>
          <p:nvPr/>
        </p:nvSpPr>
        <p:spPr>
          <a:xfrm xmlns:a="http://schemas.openxmlformats.org/drawingml/2006/main">
            <a:off x="8572500" y="3143250"/>
            <a:ext cx="2952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3D35"/>
                </a:solidFill>
                <a:latin typeface="Arial"/>
                <a:ea typeface="Arial"/>
                <a:cs typeface="Arial"/>
              </a:defRPr>
            </a:defPPr>
            <a:lvl1pPr>
              <a:defRPr sz="2100" b="0">
                <a:solidFill>
                  <a:srgbClr val="203D35"/>
                </a:solidFill>
                <a:latin typeface="Arial"/>
                <a:ea typeface="Arial"/>
                <a:cs typeface="Arial"/>
              </a:defRPr>
            </a:lvl1pPr>
            <a:lvl2pPr>
              <a:defRPr sz="2100" b="0">
                <a:solidFill>
                  <a:srgbClr val="203D35"/>
                </a:solidFill>
                <a:latin typeface="Arial"/>
                <a:ea typeface="Arial"/>
                <a:cs typeface="Arial"/>
              </a:defRPr>
            </a:lvl2pPr>
            <a:lvl3pPr>
              <a:defRPr sz="2100" b="0">
                <a:solidFill>
                  <a:srgbClr val="203D35"/>
                </a:solidFill>
                <a:latin typeface="Arial"/>
                <a:ea typeface="Arial"/>
                <a:cs typeface="Arial"/>
              </a:defRPr>
            </a:lvl3pPr>
            <a:lvl4pPr>
              <a:defRPr sz="2100" b="0">
                <a:solidFill>
                  <a:srgbClr val="203D35"/>
                </a:solidFill>
                <a:latin typeface="Arial"/>
                <a:ea typeface="Arial"/>
                <a:cs typeface="Arial"/>
              </a:defRPr>
            </a:lvl4pPr>
            <a:lvl5pPr>
              <a:defRPr sz="2100" b="0">
                <a:solidFill>
                  <a:srgbClr val="203D35"/>
                </a:solidFill>
                <a:latin typeface="Arial"/>
                <a:ea typeface="Arial"/>
                <a:cs typeface="Arial"/>
              </a:defRPr>
            </a:lvl5pPr>
            <a:lvl6pPr>
              <a:defRPr sz="2100" b="0">
                <a:solidFill>
                  <a:srgbClr val="203D35"/>
                </a:solidFill>
                <a:latin typeface="Arial"/>
                <a:ea typeface="Arial"/>
                <a:cs typeface="Arial"/>
              </a:defRPr>
            </a:lvl6pPr>
            <a:lvl7pPr>
              <a:defRPr sz="2100" b="0">
                <a:solidFill>
                  <a:srgbClr val="203D35"/>
                </a:solidFill>
                <a:latin typeface="Arial"/>
                <a:ea typeface="Arial"/>
                <a:cs typeface="Arial"/>
              </a:defRPr>
            </a:lvl7pPr>
            <a:lvl8pPr>
              <a:defRPr sz="2100" b="0">
                <a:solidFill>
                  <a:srgbClr val="203D35"/>
                </a:solidFill>
                <a:latin typeface="Arial"/>
                <a:ea typeface="Arial"/>
                <a:cs typeface="Arial"/>
              </a:defRPr>
            </a:lvl8pPr>
            <a:lvl9pPr>
              <a:defRPr sz="2100" b="0">
                <a:solidFill>
                  <a:srgbClr val="203D35"/>
                </a:solidFill>
                <a:latin typeface="Arial"/>
                <a:ea typeface="Arial"/>
                <a:cs typeface="Arial"/>
              </a:defRPr>
            </a:lvl9pPr>
          </a:lstStyle>
          <a:p xmlns:a="http://schemas.openxmlformats.org/drawingml/2006/main">
            <a:pPr>
              <a:defRPr sz="2100" b="0">
                <a:solidFill>
                  <a:srgbClr val="203D35"/>
                </a:solidFill>
                <a:latin typeface="Arial"/>
                <a:ea typeface="Arial"/>
                <a:cs typeface="Arial"/>
              </a:defRPr>
            </a:pPr>
            <a:r>
              <a:rPr sz="2100" b="0">
                <a:solidFill>
                  <a:srgbClr val="203D35"/>
                </a:solidFill>
                <a:latin typeface="Arial"/>
                <a:ea typeface="Arial"/>
                <a:cs typeface="Arial"/>
              </a:rPr>
              <a:t>Có thể chuyển nhánh</a:t>
            </a:r>
          </a:p>
          <a:p xmlns:a="http://schemas.openxmlformats.org/drawingml/2006/main">
            <a:pPr>
              <a:defRPr sz="2100" b="0">
                <a:solidFill>
                  <a:srgbClr val="203D35"/>
                </a:solidFill>
                <a:latin typeface="Arial"/>
                <a:ea typeface="Arial"/>
                <a:cs typeface="Arial"/>
              </a:defRPr>
            </a:pPr>
            <a:r>
              <a:rPr sz="2100" b="0">
                <a:solidFill>
                  <a:srgbClr val="203D35"/>
                </a:solidFill>
                <a:latin typeface="Arial"/>
                <a:ea typeface="Arial"/>
                <a:cs typeface="Arial"/>
              </a:rPr>
              <a:t>giữa hai bước.</a:t>
            </a:r>
          </a:p>
        </p:txBody>
      </p:sp>
      <p:sp>
        <p:nvSpPr>
          <p:cNvPr id="6" name="">
            <a:extLst xmlns:a="http://schemas.openxmlformats.org/drawingml/2006/main">
              <a:ext uri="{FF2B5EF4-FFF2-40B4-BE49-F238E27FC236}">
                <a16:creationId xmlns:a16="http://schemas.microsoft.com/office/drawing/2014/main" id="{5145732D-AFE5-47FF-AA79-5D7EA597E1C4}"/>
              </a:ext>
            </a:extLst>
          </p:cNvPr>
          <p:cNvSpPr>
            <a:spLocks xmlns:a="http://schemas.openxmlformats.org/drawingml/2006/main" noGrp="1"/>
          </p:cNvSpPr>
          <p:nvPr/>
        </p:nvSpPr>
        <p:spPr>
          <a:xfrm xmlns:a="http://schemas.openxmlformats.org/drawingml/2006/main">
            <a:off x="8572500" y="4524375"/>
            <a:ext cx="2952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3D35"/>
                </a:solidFill>
                <a:latin typeface="Arial"/>
                <a:ea typeface="Arial"/>
                <a:cs typeface="Arial"/>
              </a:defRPr>
            </a:defPPr>
            <a:lvl1pPr>
              <a:defRPr sz="2100" b="0">
                <a:solidFill>
                  <a:srgbClr val="203D35"/>
                </a:solidFill>
                <a:latin typeface="Arial"/>
                <a:ea typeface="Arial"/>
                <a:cs typeface="Arial"/>
              </a:defRPr>
            </a:lvl1pPr>
            <a:lvl2pPr>
              <a:defRPr sz="2100" b="0">
                <a:solidFill>
                  <a:srgbClr val="203D35"/>
                </a:solidFill>
                <a:latin typeface="Arial"/>
                <a:ea typeface="Arial"/>
                <a:cs typeface="Arial"/>
              </a:defRPr>
            </a:lvl2pPr>
            <a:lvl3pPr>
              <a:defRPr sz="2100" b="0">
                <a:solidFill>
                  <a:srgbClr val="203D35"/>
                </a:solidFill>
                <a:latin typeface="Arial"/>
                <a:ea typeface="Arial"/>
                <a:cs typeface="Arial"/>
              </a:defRPr>
            </a:lvl3pPr>
            <a:lvl4pPr>
              <a:defRPr sz="2100" b="0">
                <a:solidFill>
                  <a:srgbClr val="203D35"/>
                </a:solidFill>
                <a:latin typeface="Arial"/>
                <a:ea typeface="Arial"/>
                <a:cs typeface="Arial"/>
              </a:defRPr>
            </a:lvl4pPr>
            <a:lvl5pPr>
              <a:defRPr sz="2100" b="0">
                <a:solidFill>
                  <a:srgbClr val="203D35"/>
                </a:solidFill>
                <a:latin typeface="Arial"/>
                <a:ea typeface="Arial"/>
                <a:cs typeface="Arial"/>
              </a:defRPr>
            </a:lvl5pPr>
            <a:lvl6pPr>
              <a:defRPr sz="2100" b="0">
                <a:solidFill>
                  <a:srgbClr val="203D35"/>
                </a:solidFill>
                <a:latin typeface="Arial"/>
                <a:ea typeface="Arial"/>
                <a:cs typeface="Arial"/>
              </a:defRPr>
            </a:lvl6pPr>
            <a:lvl7pPr>
              <a:defRPr sz="2100" b="0">
                <a:solidFill>
                  <a:srgbClr val="203D35"/>
                </a:solidFill>
                <a:latin typeface="Arial"/>
                <a:ea typeface="Arial"/>
                <a:cs typeface="Arial"/>
              </a:defRPr>
            </a:lvl7pPr>
            <a:lvl8pPr>
              <a:defRPr sz="2100" b="0">
                <a:solidFill>
                  <a:srgbClr val="203D35"/>
                </a:solidFill>
                <a:latin typeface="Arial"/>
                <a:ea typeface="Arial"/>
                <a:cs typeface="Arial"/>
              </a:defRPr>
            </a:lvl8pPr>
            <a:lvl9pPr>
              <a:defRPr sz="2100" b="0">
                <a:solidFill>
                  <a:srgbClr val="203D35"/>
                </a:solidFill>
                <a:latin typeface="Arial"/>
                <a:ea typeface="Arial"/>
                <a:cs typeface="Arial"/>
              </a:defRPr>
            </a:lvl9pPr>
          </a:lstStyle>
          <a:p xmlns:a="http://schemas.openxmlformats.org/drawingml/2006/main">
            <a:pPr>
              <a:defRPr sz="2100" b="0">
                <a:solidFill>
                  <a:srgbClr val="203D35"/>
                </a:solidFill>
                <a:latin typeface="Arial"/>
                <a:ea typeface="Arial"/>
                <a:cs typeface="Arial"/>
              </a:defRPr>
            </a:pPr>
            <a:r>
              <a:rPr sz="2100" b="0">
                <a:solidFill>
                  <a:srgbClr val="203D35"/>
                </a:solidFill>
                <a:latin typeface="Arial"/>
                <a:ea typeface="Arial"/>
                <a:cs typeface="Arial"/>
              </a:rPr>
              <a:t>Xem nghiệm riêng;</a:t>
            </a:r>
          </a:p>
          <a:p xmlns:a="http://schemas.openxmlformats.org/drawingml/2006/main">
            <a:pPr>
              <a:defRPr sz="2100" b="0">
                <a:solidFill>
                  <a:srgbClr val="203D35"/>
                </a:solidFill>
                <a:latin typeface="Arial"/>
                <a:ea typeface="Arial"/>
                <a:cs typeface="Arial"/>
              </a:defRPr>
            </a:pPr>
            <a:r>
              <a:rPr sz="2100" b="0">
                <a:solidFill>
                  <a:srgbClr val="203D35"/>
                </a:solidFill>
                <a:latin typeface="Arial"/>
                <a:ea typeface="Arial"/>
                <a:cs typeface="Arial"/>
              </a:rPr>
              <a:t>bảng chơi giữ nguyên.</a:t>
            </a:r>
          </a:p>
        </p:txBody>
      </p:sp>
    </p:spTree>
    <p:extLst>
      <p:ext uri="{BB962C8B-B14F-4D97-AF65-F5344CB8AC3E}">
        <p14:creationId xmlns:p14="http://schemas.microsoft.com/office/powerpoint/2010/main" val="1146933539"/>
      </p:ext>
    </p:extLst>
  </p:cSld>
</p:sld>
</file>

<file path=ppt/slides/slide8.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475A52-0E43-424A-8310-0756B4B5ED69}"/>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Thực nghiệm có dữ liệu tái lập</a:t>
            </a:r>
          </a:p>
        </p:txBody>
      </p:sp>
      <p:sp>
        <p:nvSpPr>
          <p:cNvPr id="2" name="">
            <a:extLst xmlns:a="http://schemas.openxmlformats.org/drawingml/2006/main">
              <a:ext uri="{FF2B5EF4-FFF2-40B4-BE49-F238E27FC236}">
                <a16:creationId xmlns:a16="http://schemas.microsoft.com/office/drawing/2014/main" id="{7AA2D340-FB43-49FB-B85D-F630B34122D2}"/>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08</a:t>
            </a:r>
          </a:p>
        </p:txBody>
      </p:sp>
      <p:sp>
        <p:nvSpPr>
          <p:cNvPr id="3" name="">
            <a:extLst xmlns:a="http://schemas.openxmlformats.org/drawingml/2006/main">
              <a:ext uri="{FF2B5EF4-FFF2-40B4-BE49-F238E27FC236}">
                <a16:creationId xmlns:a16="http://schemas.microsoft.com/office/drawing/2014/main" id="{EAF8E3F1-A709-4F5A-A58E-ADD3E131347D}"/>
              </a:ext>
            </a:extLst>
          </p:cNvPr>
          <p:cNvSpPr>
            <a:spLocks xmlns:a="http://schemas.openxmlformats.org/drawingml/2006/main" noGrp="1"/>
          </p:cNvSpPr>
          <p:nvPr/>
        </p:nvSpPr>
        <p:spPr>
          <a:xfrm xmlns:a="http://schemas.openxmlformats.org/drawingml/2006/main">
            <a:off x="609600" y="1619250"/>
            <a:ext cx="109728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3D35"/>
                </a:solidFill>
                <a:latin typeface="Arial"/>
                <a:ea typeface="Arial"/>
                <a:cs typeface="Arial"/>
              </a:defRPr>
            </a:defPPr>
            <a:lvl1pPr>
              <a:defRPr sz="2250" b="0">
                <a:solidFill>
                  <a:srgbClr val="203D35"/>
                </a:solidFill>
                <a:latin typeface="Arial"/>
                <a:ea typeface="Arial"/>
                <a:cs typeface="Arial"/>
              </a:defRPr>
            </a:lvl1pPr>
            <a:lvl2pPr>
              <a:defRPr sz="2250" b="0">
                <a:solidFill>
                  <a:srgbClr val="203D35"/>
                </a:solidFill>
                <a:latin typeface="Arial"/>
                <a:ea typeface="Arial"/>
                <a:cs typeface="Arial"/>
              </a:defRPr>
            </a:lvl2pPr>
            <a:lvl3pPr>
              <a:defRPr sz="2250" b="0">
                <a:solidFill>
                  <a:srgbClr val="203D35"/>
                </a:solidFill>
                <a:latin typeface="Arial"/>
                <a:ea typeface="Arial"/>
                <a:cs typeface="Arial"/>
              </a:defRPr>
            </a:lvl3pPr>
            <a:lvl4pPr>
              <a:defRPr sz="2250" b="0">
                <a:solidFill>
                  <a:srgbClr val="203D35"/>
                </a:solidFill>
                <a:latin typeface="Arial"/>
                <a:ea typeface="Arial"/>
                <a:cs typeface="Arial"/>
              </a:defRPr>
            </a:lvl4pPr>
            <a:lvl5pPr>
              <a:defRPr sz="2250" b="0">
                <a:solidFill>
                  <a:srgbClr val="203D35"/>
                </a:solidFill>
                <a:latin typeface="Arial"/>
                <a:ea typeface="Arial"/>
                <a:cs typeface="Arial"/>
              </a:defRPr>
            </a:lvl5pPr>
            <a:lvl6pPr>
              <a:defRPr sz="2250" b="0">
                <a:solidFill>
                  <a:srgbClr val="203D35"/>
                </a:solidFill>
                <a:latin typeface="Arial"/>
                <a:ea typeface="Arial"/>
                <a:cs typeface="Arial"/>
              </a:defRPr>
            </a:lvl6pPr>
            <a:lvl7pPr>
              <a:defRPr sz="2250" b="0">
                <a:solidFill>
                  <a:srgbClr val="203D35"/>
                </a:solidFill>
                <a:latin typeface="Arial"/>
                <a:ea typeface="Arial"/>
                <a:cs typeface="Arial"/>
              </a:defRPr>
            </a:lvl7pPr>
            <a:lvl8pPr>
              <a:defRPr sz="2250" b="0">
                <a:solidFill>
                  <a:srgbClr val="203D35"/>
                </a:solidFill>
                <a:latin typeface="Arial"/>
                <a:ea typeface="Arial"/>
                <a:cs typeface="Arial"/>
              </a:defRPr>
            </a:lvl8pPr>
            <a:lvl9pPr>
              <a:defRPr sz="2250" b="0">
                <a:solidFill>
                  <a:srgbClr val="203D35"/>
                </a:solidFill>
                <a:latin typeface="Arial"/>
                <a:ea typeface="Arial"/>
                <a:cs typeface="Arial"/>
              </a:defRPr>
            </a:lvl9pPr>
          </a:lstStyle>
          <a:p xmlns:a="http://schemas.openxmlformats.org/drawingml/2006/main">
            <a:pPr>
              <a:defRPr sz="2250" b="0">
                <a:solidFill>
                  <a:srgbClr val="203D35"/>
                </a:solidFill>
                <a:latin typeface="Arial"/>
                <a:ea typeface="Arial"/>
                <a:cs typeface="Arial"/>
              </a:defRPr>
            </a:pPr>
            <a:r>
              <a:rPr sz="2250" b="0">
                <a:solidFill>
                  <a:srgbClr val="203D35"/>
                </a:solidFill>
                <a:latin typeface="Arial"/>
                <a:ea typeface="Arial"/>
                <a:cs typeface="Arial"/>
              </a:rPr>
              <a:t>26 input × 2 thuật toán × 7 lần = 364 lượt thời gian</a:t>
            </a:r>
          </a:p>
          <a:p xmlns:a="http://schemas.openxmlformats.org/drawingml/2006/main">
            <a:pPr>
              <a:defRPr sz="2250" b="0">
                <a:solidFill>
                  <a:srgbClr val="203D35"/>
                </a:solidFill>
                <a:latin typeface="Arial"/>
                <a:ea typeface="Arial"/>
                <a:cs typeface="Arial"/>
              </a:defRPr>
            </a:pPr>
            <a:r>
              <a:rPr sz="2250" b="0">
                <a:solidFill>
                  <a:srgbClr val="203D35"/>
                </a:solidFill>
                <a:latin typeface="Arial"/>
                <a:ea typeface="Arial"/>
                <a:cs typeface="Arial"/>
              </a:rPr>
              <a:t>Thêm 52 lượt đo bộ nhớ riêng; tất cả có nghiệm hợp lệ.</a:t>
            </a:r>
          </a:p>
        </p:txBody>
      </p:sp>
      <p:sp>
        <p:nvSpPr>
          <p:cNvPr id="4" name="">
            <a:extLst xmlns:a="http://schemas.openxmlformats.org/drawingml/2006/main">
              <a:ext uri="{FF2B5EF4-FFF2-40B4-BE49-F238E27FC236}">
                <a16:creationId xmlns:a16="http://schemas.microsoft.com/office/drawing/2014/main" id="{B2134EA4-5EC4-451F-B821-1A241F900CC8}"/>
              </a:ext>
            </a:extLst>
          </p:cNvPr>
          <p:cNvSpPr>
            <a:spLocks xmlns:a="http://schemas.openxmlformats.org/drawingml/2006/main" noGrp="1"/>
          </p:cNvSpPr>
          <p:nvPr/>
        </p:nvSpPr>
        <p:spPr>
          <a:xfrm xmlns:a="http://schemas.openxmlformats.org/drawingml/2006/main">
            <a:off x="609600" y="3000375"/>
            <a:ext cx="109728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3D35"/>
                </a:solidFill>
                <a:latin typeface="Arial"/>
                <a:ea typeface="Arial"/>
                <a:cs typeface="Arial"/>
              </a:defRPr>
            </a:defPPr>
            <a:lvl1pPr>
              <a:defRPr sz="2250" b="0">
                <a:solidFill>
                  <a:srgbClr val="203D35"/>
                </a:solidFill>
                <a:latin typeface="Arial"/>
                <a:ea typeface="Arial"/>
                <a:cs typeface="Arial"/>
              </a:defRPr>
            </a:lvl1pPr>
            <a:lvl2pPr>
              <a:defRPr sz="2250" b="0">
                <a:solidFill>
                  <a:srgbClr val="203D35"/>
                </a:solidFill>
                <a:latin typeface="Arial"/>
                <a:ea typeface="Arial"/>
                <a:cs typeface="Arial"/>
              </a:defRPr>
            </a:lvl2pPr>
            <a:lvl3pPr>
              <a:defRPr sz="2250" b="0">
                <a:solidFill>
                  <a:srgbClr val="203D35"/>
                </a:solidFill>
                <a:latin typeface="Arial"/>
                <a:ea typeface="Arial"/>
                <a:cs typeface="Arial"/>
              </a:defRPr>
            </a:lvl3pPr>
            <a:lvl4pPr>
              <a:defRPr sz="2250" b="0">
                <a:solidFill>
                  <a:srgbClr val="203D35"/>
                </a:solidFill>
                <a:latin typeface="Arial"/>
                <a:ea typeface="Arial"/>
                <a:cs typeface="Arial"/>
              </a:defRPr>
            </a:lvl4pPr>
            <a:lvl5pPr>
              <a:defRPr sz="2250" b="0">
                <a:solidFill>
                  <a:srgbClr val="203D35"/>
                </a:solidFill>
                <a:latin typeface="Arial"/>
                <a:ea typeface="Arial"/>
                <a:cs typeface="Arial"/>
              </a:defRPr>
            </a:lvl5pPr>
            <a:lvl6pPr>
              <a:defRPr sz="2250" b="0">
                <a:solidFill>
                  <a:srgbClr val="203D35"/>
                </a:solidFill>
                <a:latin typeface="Arial"/>
                <a:ea typeface="Arial"/>
                <a:cs typeface="Arial"/>
              </a:defRPr>
            </a:lvl6pPr>
            <a:lvl7pPr>
              <a:defRPr sz="2250" b="0">
                <a:solidFill>
                  <a:srgbClr val="203D35"/>
                </a:solidFill>
                <a:latin typeface="Arial"/>
                <a:ea typeface="Arial"/>
                <a:cs typeface="Arial"/>
              </a:defRPr>
            </a:lvl7pPr>
            <a:lvl8pPr>
              <a:defRPr sz="2250" b="0">
                <a:solidFill>
                  <a:srgbClr val="203D35"/>
                </a:solidFill>
                <a:latin typeface="Arial"/>
                <a:ea typeface="Arial"/>
                <a:cs typeface="Arial"/>
              </a:defRPr>
            </a:lvl8pPr>
            <a:lvl9pPr>
              <a:defRPr sz="2250" b="0">
                <a:solidFill>
                  <a:srgbClr val="203D35"/>
                </a:solidFill>
                <a:latin typeface="Arial"/>
                <a:ea typeface="Arial"/>
                <a:cs typeface="Arial"/>
              </a:defRPr>
            </a:lvl9pPr>
          </a:lstStyle>
          <a:p xmlns:a="http://schemas.openxmlformats.org/drawingml/2006/main">
            <a:pPr>
              <a:defRPr sz="2250" b="0">
                <a:solidFill>
                  <a:srgbClr val="203D35"/>
                </a:solidFill>
                <a:latin typeface="Arial"/>
                <a:ea typeface="Arial"/>
                <a:cs typeface="Arial"/>
              </a:defRPr>
            </a:pPr>
            <a:r>
              <a:rPr sz="2250" b="0">
                <a:solidFill>
                  <a:srgbClr val="203D35"/>
                </a:solidFill>
                <a:latin typeface="Arial"/>
                <a:ea typeface="Arial"/>
                <a:cs typeface="Arial"/>
              </a:rPr>
              <a:t>Python 3.12.14 · Windows 11</a:t>
            </a:r>
          </a:p>
          <a:p xmlns:a="http://schemas.openxmlformats.org/drawingml/2006/main">
            <a:pPr>
              <a:defRPr sz="2250" b="0">
                <a:solidFill>
                  <a:srgbClr val="203D35"/>
                </a:solidFill>
                <a:latin typeface="Arial"/>
                <a:ea typeface="Arial"/>
                <a:cs typeface="Arial"/>
              </a:defRPr>
            </a:pPr>
            <a:r>
              <a:rPr sz="2250" b="0">
                <a:solidFill>
                  <a:srgbClr val="203D35"/>
                </a:solidFill>
                <a:latin typeface="Arial"/>
                <a:ea typeface="Arial"/>
                <a:cs typeface="Arial"/>
              </a:rPr>
              <a:t>Warm-up, median 7 mẫu; lưu input, mẫu thô và mã băm.</a:t>
            </a:r>
          </a:p>
        </p:txBody>
      </p:sp>
      <p:sp>
        <p:nvSpPr>
          <p:cNvPr id="5" name="">
            <a:extLst xmlns:a="http://schemas.openxmlformats.org/drawingml/2006/main">
              <a:ext uri="{FF2B5EF4-FFF2-40B4-BE49-F238E27FC236}">
                <a16:creationId xmlns:a16="http://schemas.microsoft.com/office/drawing/2014/main" id="{B526430C-DF21-47AF-AC50-3142E5613208}"/>
              </a:ext>
            </a:extLst>
          </p:cNvPr>
          <p:cNvSpPr>
            <a:spLocks xmlns:a="http://schemas.openxmlformats.org/drawingml/2006/main" noGrp="1"/>
          </p:cNvSpPr>
          <p:nvPr/>
        </p:nvSpPr>
        <p:spPr>
          <a:xfrm xmlns:a="http://schemas.openxmlformats.org/drawingml/2006/main">
            <a:off x="609600" y="4381500"/>
            <a:ext cx="109728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203D35"/>
                </a:solidFill>
                <a:latin typeface="Arial"/>
                <a:ea typeface="Arial"/>
                <a:cs typeface="Arial"/>
              </a:defRPr>
            </a:defPPr>
            <a:lvl1pPr>
              <a:defRPr sz="2250" b="0">
                <a:solidFill>
                  <a:srgbClr val="203D35"/>
                </a:solidFill>
                <a:latin typeface="Arial"/>
                <a:ea typeface="Arial"/>
                <a:cs typeface="Arial"/>
              </a:defRPr>
            </a:lvl1pPr>
            <a:lvl2pPr>
              <a:defRPr sz="2250" b="0">
                <a:solidFill>
                  <a:srgbClr val="203D35"/>
                </a:solidFill>
                <a:latin typeface="Arial"/>
                <a:ea typeface="Arial"/>
                <a:cs typeface="Arial"/>
              </a:defRPr>
            </a:lvl2pPr>
            <a:lvl3pPr>
              <a:defRPr sz="2250" b="0">
                <a:solidFill>
                  <a:srgbClr val="203D35"/>
                </a:solidFill>
                <a:latin typeface="Arial"/>
                <a:ea typeface="Arial"/>
                <a:cs typeface="Arial"/>
              </a:defRPr>
            </a:lvl3pPr>
            <a:lvl4pPr>
              <a:defRPr sz="2250" b="0">
                <a:solidFill>
                  <a:srgbClr val="203D35"/>
                </a:solidFill>
                <a:latin typeface="Arial"/>
                <a:ea typeface="Arial"/>
                <a:cs typeface="Arial"/>
              </a:defRPr>
            </a:lvl4pPr>
            <a:lvl5pPr>
              <a:defRPr sz="2250" b="0">
                <a:solidFill>
                  <a:srgbClr val="203D35"/>
                </a:solidFill>
                <a:latin typeface="Arial"/>
                <a:ea typeface="Arial"/>
                <a:cs typeface="Arial"/>
              </a:defRPr>
            </a:lvl5pPr>
            <a:lvl6pPr>
              <a:defRPr sz="2250" b="0">
                <a:solidFill>
                  <a:srgbClr val="203D35"/>
                </a:solidFill>
                <a:latin typeface="Arial"/>
                <a:ea typeface="Arial"/>
                <a:cs typeface="Arial"/>
              </a:defRPr>
            </a:lvl6pPr>
            <a:lvl7pPr>
              <a:defRPr sz="2250" b="0">
                <a:solidFill>
                  <a:srgbClr val="203D35"/>
                </a:solidFill>
                <a:latin typeface="Arial"/>
                <a:ea typeface="Arial"/>
                <a:cs typeface="Arial"/>
              </a:defRPr>
            </a:lvl7pPr>
            <a:lvl8pPr>
              <a:defRPr sz="2250" b="0">
                <a:solidFill>
                  <a:srgbClr val="203D35"/>
                </a:solidFill>
                <a:latin typeface="Arial"/>
                <a:ea typeface="Arial"/>
                <a:cs typeface="Arial"/>
              </a:defRPr>
            </a:lvl8pPr>
            <a:lvl9pPr>
              <a:defRPr sz="2250" b="0">
                <a:solidFill>
                  <a:srgbClr val="203D35"/>
                </a:solidFill>
                <a:latin typeface="Arial"/>
                <a:ea typeface="Arial"/>
                <a:cs typeface="Arial"/>
              </a:defRPr>
            </a:lvl9pPr>
          </a:lstStyle>
          <a:p xmlns:a="http://schemas.openxmlformats.org/drawingml/2006/main">
            <a:pPr>
              <a:defRPr sz="2250" b="0">
                <a:solidFill>
                  <a:srgbClr val="203D35"/>
                </a:solidFill>
                <a:latin typeface="Arial"/>
                <a:ea typeface="Arial"/>
                <a:cs typeface="Arial"/>
              </a:defRPr>
            </a:pPr>
            <a:r>
              <a:rPr sz="2250" b="0">
                <a:solidFill>
                  <a:srgbClr val="203D35"/>
                </a:solidFill>
                <a:latin typeface="Arial"/>
                <a:ea typeface="Arial"/>
                <a:cs typeface="Arial"/>
              </a:rPr>
              <a:t>4 giây / 100000 trạng thái; lần đo bộ nhớ 30 giây</a:t>
            </a:r>
          </a:p>
          <a:p xmlns:a="http://schemas.openxmlformats.org/drawingml/2006/main">
            <a:pPr>
              <a:defRPr sz="2250" b="0">
                <a:solidFill>
                  <a:srgbClr val="203D35"/>
                </a:solidFill>
                <a:latin typeface="Arial"/>
                <a:ea typeface="Arial"/>
                <a:cs typeface="Arial"/>
              </a:defRPr>
            </a:pPr>
            <a:r>
              <a:rPr sz="2250" b="0">
                <a:solidFill>
                  <a:srgbClr val="203D35"/>
                </a:solidFill>
                <a:latin typeface="Arial"/>
                <a:ea typeface="Arial"/>
                <a:cs typeface="Arial"/>
              </a:rPr>
              <a:t>Peak cấp phát Python trong search, không phải RSS.</a:t>
            </a:r>
          </a:p>
        </p:txBody>
      </p:sp>
    </p:spTree>
    <p:extLst>
      <p:ext uri="{BB962C8B-B14F-4D97-AF65-F5344CB8AC3E}">
        <p14:creationId xmlns:p14="http://schemas.microsoft.com/office/powerpoint/2010/main" val="132735768"/>
      </p:ext>
    </p:extLst>
  </p:cSld>
</p:sld>
</file>

<file path=ppt/slides/slide9.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15F2A2-9C2F-4675-8655-AB6FB907B6AF}"/>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Pipes: cắt nhánh chi phối kết quả</a:t>
            </a:r>
          </a:p>
        </p:txBody>
      </p:sp>
      <p:sp>
        <p:nvSpPr>
          <p:cNvPr id="2" name="">
            <a:extLst xmlns:a="http://schemas.openxmlformats.org/drawingml/2006/main">
              <a:ext uri="{FF2B5EF4-FFF2-40B4-BE49-F238E27FC236}">
                <a16:creationId xmlns:a16="http://schemas.microsoft.com/office/drawing/2014/main" id="{184377A2-9A33-410F-95E7-236D55FE4828}"/>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09</a:t>
            </a:r>
          </a:p>
        </p:txBody>
      </p:sp>
      <p:graphicFrame>
        <p:nvGraphicFramePr>
          <p:cNvPr id="3" name="">
            <a:extLst xmlns:a="http://schemas.openxmlformats.org/drawingml/2006/main">
              <a:ext uri="{FF2B5EF4-FFF2-40B4-BE49-F238E27FC236}">
                <a16:creationId xmlns:a16="http://schemas.microsoft.com/office/drawing/2014/main" id="{4FC4DC6A-077C-4CEB-B360-A000664C35BD}"/>
              </a:ext>
            </a:extLst>
          </p:cNvPr>
          <p:cNvGraphicFramePr/>
          <p:nvPr/>
        </p:nvGraphicFramePr>
        <p:xfrm>
          <a:off xmlns:a="http://schemas.openxmlformats.org/drawingml/2006/main" x="609600" y="1524000"/>
          <a:ext xmlns:a="http://schemas.openxmlformats.org/drawingml/2006/main" cx="10972800" cy="2743200"/>
        </p:xfrm>
        <a:graphic xmlns:a="http://schemas.openxmlformats.org/drawingml/2006/main">
          <a:graphicData uri="http://schemas.openxmlformats.org/drawingml/2006/table">
            <a:tbl>
              <a:tblPr/>
              <a:tblGrid>
                <a:gridCol w="2857500"/>
                <a:gridCol w="1333500"/>
                <a:gridCol w="1428750"/>
                <a:gridCol w="1381125"/>
                <a:gridCol w="1476375"/>
                <a:gridCol w="1200150"/>
                <a:gridCol w="1295400"/>
              </a:tblGrid>
              <a:tr h="457200">
                <a:tc>
                  <a:txBody>
                    <a:bodyPr lIns="76200" tIns="76200" rIns="76200" bIns="66675"/>
                    <a:lstStyle/>
                    <a:p>
                      <a:r>
                        <a:rPr sz="1500" b="1">
                          <a:solidFill>
                            <a:srgbClr val="203D35"/>
                          </a:solidFill>
                          <a:latin typeface="Arial"/>
                          <a:ea typeface="Arial"/>
                          <a:cs typeface="Arial"/>
                        </a:rPr>
                        <a:t>Input</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DFS ms</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Greedy ms</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DFS KiB</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Greedy KiB</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DFS N</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Greedy N</a:t>
                      </a:r>
                    </a:p>
                  </a:txBody>
                  <a:tcPr marL="91440" marR="91440" marT="45720" marB="45720" anchor="ctr">
                    <a:solidFill>
                      <a:srgbClr val="E0EAD4"/>
                    </a:solidFill>
                  </a:tcPr>
                </a:tc>
              </a:tr>
              <a:tr h="457200">
                <a:tc>
                  <a:txBody>
                    <a:bodyPr lIns="76200" tIns="76200" rIns="76200" bIns="66675"/>
                    <a:lstStyle/>
                    <a:p>
                      <a:r>
                        <a:rPr sz="1500" b="0">
                          <a:solidFill>
                            <a:srgbClr val="203D35"/>
                          </a:solidFill>
                          <a:latin typeface="Arial"/>
                          <a:ea typeface="Arial"/>
                          <a:cs typeface="Arial"/>
                        </a:rPr>
                        <a:t>pipes-3</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0.253</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0.265</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9.84</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9.73</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10</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10</a:t>
                      </a:r>
                    </a:p>
                  </a:txBody>
                  <a:tcPr marL="91440" marR="91440" marT="45720" marB="45720" anchor="ctr">
                    <a:solidFill>
                      <a:srgbClr val="FFFFFF"/>
                    </a:solidFill>
                  </a:tcPr>
                </a:tc>
              </a:tr>
              <a:tr h="457200">
                <a:tc>
                  <a:txBody>
                    <a:bodyPr lIns="76200" tIns="76200" rIns="76200" bIns="66675"/>
                    <a:lstStyle/>
                    <a:p>
                      <a:r>
                        <a:rPr sz="1500" b="0">
                          <a:solidFill>
                            <a:srgbClr val="203D35"/>
                          </a:solidFill>
                          <a:latin typeface="Arial"/>
                          <a:ea typeface="Arial"/>
                          <a:cs typeface="Arial"/>
                        </a:rPr>
                        <a:t>pipes-4</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0.735</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0.754</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20.76</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20.80</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17</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17</a:t>
                      </a:r>
                    </a:p>
                  </a:txBody>
                  <a:tcPr marL="91440" marR="91440" marT="45720" marB="45720" anchor="ctr">
                    <a:solidFill>
                      <a:srgbClr val="EEF2E7"/>
                    </a:solidFill>
                  </a:tcPr>
                </a:tc>
              </a:tr>
              <a:tr h="457200">
                <a:tc>
                  <a:txBody>
                    <a:bodyPr lIns="76200" tIns="76200" rIns="76200" bIns="66675"/>
                    <a:lstStyle/>
                    <a:p>
                      <a:r>
                        <a:rPr sz="1500" b="0">
                          <a:solidFill>
                            <a:srgbClr val="203D35"/>
                          </a:solidFill>
                          <a:latin typeface="Arial"/>
                          <a:ea typeface="Arial"/>
                          <a:cs typeface="Arial"/>
                        </a:rPr>
                        <a:t>pipes-5</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1.885</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1.864</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46.08</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46.16</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28</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28</a:t>
                      </a:r>
                    </a:p>
                  </a:txBody>
                  <a:tcPr marL="91440" marR="91440" marT="45720" marB="45720" anchor="ctr">
                    <a:solidFill>
                      <a:srgbClr val="FFFFFF"/>
                    </a:solidFill>
                  </a:tcPr>
                </a:tc>
              </a:tr>
              <a:tr h="457200">
                <a:tc>
                  <a:txBody>
                    <a:bodyPr lIns="76200" tIns="76200" rIns="76200" bIns="66675"/>
                    <a:lstStyle/>
                    <a:p>
                      <a:r>
                        <a:rPr sz="1500" b="0">
                          <a:solidFill>
                            <a:srgbClr val="203D35"/>
                          </a:solidFill>
                          <a:latin typeface="Arial"/>
                          <a:ea typeface="Arial"/>
                          <a:cs typeface="Arial"/>
                        </a:rPr>
                        <a:t>pipes-6</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3.631</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3.853</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84.48</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84.52</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37</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37</a:t>
                      </a:r>
                    </a:p>
                  </a:txBody>
                  <a:tcPr marL="91440" marR="91440" marT="45720" marB="45720" anchor="ctr">
                    <a:solidFill>
                      <a:srgbClr val="EEF2E7"/>
                    </a:solidFill>
                  </a:tcPr>
                </a:tc>
              </a:tr>
              <a:tr h="457200">
                <a:tc>
                  <a:txBody>
                    <a:bodyPr lIns="76200" tIns="76200" rIns="76200" bIns="66675"/>
                    <a:lstStyle/>
                    <a:p>
                      <a:r>
                        <a:rPr sz="1500" b="0">
                          <a:solidFill>
                            <a:srgbClr val="203D35"/>
                          </a:solidFill>
                          <a:latin typeface="Arial"/>
                          <a:ea typeface="Arial"/>
                          <a:cs typeface="Arial"/>
                        </a:rPr>
                        <a:t>pipes-8-seed-103</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12.033</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13.000</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213.34</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210.48</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67</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69</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AEE82E2-901F-425E-8A12-7E49DD53AA22}"/>
              </a:ext>
            </a:extLst>
          </p:cNvPr>
          <p:cNvSpPr>
            <a:spLocks xmlns:a="http://schemas.openxmlformats.org/drawingml/2006/main" noGrp="1"/>
          </p:cNvSpPr>
          <p:nvPr/>
        </p:nvSpPr>
        <p:spPr>
          <a:xfrm xmlns:a="http://schemas.openxmlformats.org/drawingml/2006/main">
            <a:off x="609600" y="59055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1745D"/>
                </a:solidFill>
                <a:latin typeface="Arial"/>
                <a:ea typeface="Arial"/>
                <a:cs typeface="Arial"/>
              </a:defRPr>
            </a:defPPr>
            <a:lvl1pPr>
              <a:defRPr sz="1350" b="0">
                <a:solidFill>
                  <a:srgbClr val="61745D"/>
                </a:solidFill>
                <a:latin typeface="Arial"/>
                <a:ea typeface="Arial"/>
                <a:cs typeface="Arial"/>
              </a:defRPr>
            </a:lvl1pPr>
            <a:lvl2pPr>
              <a:defRPr sz="1350" b="0">
                <a:solidFill>
                  <a:srgbClr val="61745D"/>
                </a:solidFill>
                <a:latin typeface="Arial"/>
                <a:ea typeface="Arial"/>
                <a:cs typeface="Arial"/>
              </a:defRPr>
            </a:lvl2pPr>
            <a:lvl3pPr>
              <a:defRPr sz="1350" b="0">
                <a:solidFill>
                  <a:srgbClr val="61745D"/>
                </a:solidFill>
                <a:latin typeface="Arial"/>
                <a:ea typeface="Arial"/>
                <a:cs typeface="Arial"/>
              </a:defRPr>
            </a:lvl3pPr>
            <a:lvl4pPr>
              <a:defRPr sz="1350" b="0">
                <a:solidFill>
                  <a:srgbClr val="61745D"/>
                </a:solidFill>
                <a:latin typeface="Arial"/>
                <a:ea typeface="Arial"/>
                <a:cs typeface="Arial"/>
              </a:defRPr>
            </a:lvl4pPr>
            <a:lvl5pPr>
              <a:defRPr sz="1350" b="0">
                <a:solidFill>
                  <a:srgbClr val="61745D"/>
                </a:solidFill>
                <a:latin typeface="Arial"/>
                <a:ea typeface="Arial"/>
                <a:cs typeface="Arial"/>
              </a:defRPr>
            </a:lvl5pPr>
            <a:lvl6pPr>
              <a:defRPr sz="1350" b="0">
                <a:solidFill>
                  <a:srgbClr val="61745D"/>
                </a:solidFill>
                <a:latin typeface="Arial"/>
                <a:ea typeface="Arial"/>
                <a:cs typeface="Arial"/>
              </a:defRPr>
            </a:lvl6pPr>
            <a:lvl7pPr>
              <a:defRPr sz="1350" b="0">
                <a:solidFill>
                  <a:srgbClr val="61745D"/>
                </a:solidFill>
                <a:latin typeface="Arial"/>
                <a:ea typeface="Arial"/>
                <a:cs typeface="Arial"/>
              </a:defRPr>
            </a:lvl7pPr>
            <a:lvl8pPr>
              <a:defRPr sz="1350" b="0">
                <a:solidFill>
                  <a:srgbClr val="61745D"/>
                </a:solidFill>
                <a:latin typeface="Arial"/>
                <a:ea typeface="Arial"/>
                <a:cs typeface="Arial"/>
              </a:defRPr>
            </a:lvl8pPr>
            <a:lvl9pPr>
              <a:defRPr sz="1350" b="0">
                <a:solidFill>
                  <a:srgbClr val="61745D"/>
                </a:solidFill>
                <a:latin typeface="Arial"/>
                <a:ea typeface="Arial"/>
                <a:cs typeface="Arial"/>
              </a:defRPr>
            </a:lvl9pPr>
          </a:lstStyle>
          <a:p xmlns:a="http://schemas.openxmlformats.org/drawingml/2006/main">
            <a:pPr>
              <a:defRPr sz="1350" b="0">
                <a:solidFill>
                  <a:srgbClr val="61745D"/>
                </a:solidFill>
                <a:latin typeface="Arial"/>
                <a:ea typeface="Arial"/>
                <a:cs typeface="Arial"/>
              </a:defRPr>
            </a:pPr>
            <a:r>
              <a:rPr sz="1350" b="0">
                <a:solidFill>
                  <a:srgbClr val="61745D"/>
                </a:solidFill>
                <a:latin typeface="Arial"/>
                <a:ea typeface="Arial"/>
                <a:cs typeface="Arial"/>
              </a:rPr>
              <a:t>ms: median search · KiB: peak cấp phát Python · N: trạng thái đã xét (gồm đích)</a:t>
            </a:r>
          </a:p>
        </p:txBody>
      </p:sp>
      <p:sp>
        <p:nvSpPr>
          <p:cNvPr id="5" name="">
            <a:extLst xmlns:a="http://schemas.openxmlformats.org/drawingml/2006/main">
              <a:ext uri="{FF2B5EF4-FFF2-40B4-BE49-F238E27FC236}">
                <a16:creationId xmlns:a16="http://schemas.microsoft.com/office/drawing/2014/main" id="{824F6671-D2BC-432A-AE38-93BF51DA8D69}"/>
              </a:ext>
            </a:extLst>
          </p:cNvPr>
          <p:cNvSpPr>
            <a:spLocks xmlns:a="http://schemas.openxmlformats.org/drawingml/2006/main" noGrp="1"/>
          </p:cNvSpPr>
          <p:nvPr/>
        </p:nvSpPr>
        <p:spPr>
          <a:xfrm xmlns:a="http://schemas.openxmlformats.org/drawingml/2006/main">
            <a:off x="609600" y="47625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13 input: DFS xét 453 trạng thái; Greedy xét 455.</a:t>
            </a:r>
          </a:p>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Nhiều hướng bị ràng buộc sớm, heap và h ít tạo lợi thế.</a:t>
            </a:r>
          </a:p>
        </p:txBody>
      </p:sp>
    </p:spTree>
    <p:extLst>
      <p:ext uri="{BB962C8B-B14F-4D97-AF65-F5344CB8AC3E}">
        <p14:creationId xmlns:p14="http://schemas.microsoft.com/office/powerpoint/2010/main" val="1387389985"/>
      </p:ext>
    </p:extLst>
  </p:cSld>
</p:sld>
</file>

<file path=ppt/slides/slide10.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C1C9D2-7588-4204-8399-5D482D6856D0}"/>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Light Up: lợi ích tùy cấu trúc input</a:t>
            </a:r>
          </a:p>
        </p:txBody>
      </p:sp>
      <p:sp>
        <p:nvSpPr>
          <p:cNvPr id="2" name="">
            <a:extLst xmlns:a="http://schemas.openxmlformats.org/drawingml/2006/main">
              <a:ext uri="{FF2B5EF4-FFF2-40B4-BE49-F238E27FC236}">
                <a16:creationId xmlns:a16="http://schemas.microsoft.com/office/drawing/2014/main" id="{E8287374-2FF9-4534-8D9E-D13D274D5D70}"/>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10</a:t>
            </a:r>
          </a:p>
        </p:txBody>
      </p:sp>
      <p:graphicFrame>
        <p:nvGraphicFramePr>
          <p:cNvPr id="3" name="">
            <a:extLst xmlns:a="http://schemas.openxmlformats.org/drawingml/2006/main">
              <a:ext uri="{FF2B5EF4-FFF2-40B4-BE49-F238E27FC236}">
                <a16:creationId xmlns:a16="http://schemas.microsoft.com/office/drawing/2014/main" id="{3AAF8C4B-7511-4C85-ADDA-FCE7D5E19097}"/>
              </a:ext>
            </a:extLst>
          </p:cNvPr>
          <p:cNvGraphicFramePr/>
          <p:nvPr/>
        </p:nvGraphicFramePr>
        <p:xfrm>
          <a:off xmlns:a="http://schemas.openxmlformats.org/drawingml/2006/main" x="609600" y="1524000"/>
          <a:ext xmlns:a="http://schemas.openxmlformats.org/drawingml/2006/main" cx="10972800" cy="3657600"/>
        </p:xfrm>
        <a:graphic xmlns:a="http://schemas.openxmlformats.org/drawingml/2006/main">
          <a:graphicData uri="http://schemas.openxmlformats.org/drawingml/2006/table">
            <a:tbl>
              <a:tblPr/>
              <a:tblGrid>
                <a:gridCol w="2857500"/>
                <a:gridCol w="1333500"/>
                <a:gridCol w="1428750"/>
                <a:gridCol w="1381125"/>
                <a:gridCol w="1476375"/>
                <a:gridCol w="1200150"/>
                <a:gridCol w="1295400"/>
              </a:tblGrid>
              <a:tr h="457200">
                <a:tc>
                  <a:txBody>
                    <a:bodyPr lIns="76200" tIns="76200" rIns="76200" bIns="66675"/>
                    <a:lstStyle/>
                    <a:p>
                      <a:r>
                        <a:rPr sz="1500" b="1">
                          <a:solidFill>
                            <a:srgbClr val="203D35"/>
                          </a:solidFill>
                          <a:latin typeface="Arial"/>
                          <a:ea typeface="Arial"/>
                          <a:cs typeface="Arial"/>
                        </a:rPr>
                        <a:t>Input</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DFS ms</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Greedy ms</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DFS KiB</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Greedy KiB</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DFS N</a:t>
                      </a:r>
                    </a:p>
                  </a:txBody>
                  <a:tcPr marL="91440" marR="91440" marT="45720" marB="45720" anchor="ctr">
                    <a:solidFill>
                      <a:srgbClr val="E0EAD4"/>
                    </a:solidFill>
                  </a:tcPr>
                </a:tc>
                <a:tc>
                  <a:txBody>
                    <a:bodyPr lIns="76200" tIns="76200" rIns="76200" bIns="66675"/>
                    <a:lstStyle/>
                    <a:p>
                      <a:r>
                        <a:rPr sz="1500" b="1">
                          <a:solidFill>
                            <a:srgbClr val="203D35"/>
                          </a:solidFill>
                          <a:latin typeface="Arial"/>
                          <a:ea typeface="Arial"/>
                          <a:cs typeface="Arial"/>
                        </a:rPr>
                        <a:t>Greedy N</a:t>
                      </a:r>
                    </a:p>
                  </a:txBody>
                  <a:tcPr marL="91440" marR="91440" marT="45720" marB="45720" anchor="ctr">
                    <a:solidFill>
                      <a:srgbClr val="E0EAD4"/>
                    </a:solidFill>
                  </a:tcPr>
                </a:tc>
              </a:tr>
              <a:tr h="457200">
                <a:tc>
                  <a:txBody>
                    <a:bodyPr lIns="76200" tIns="76200" rIns="76200" bIns="66675"/>
                    <a:lstStyle/>
                    <a:p>
                      <a:r>
                        <a:rPr sz="1500" b="0">
                          <a:solidFill>
                            <a:srgbClr val="203D35"/>
                          </a:solidFill>
                          <a:latin typeface="Arial"/>
                          <a:ea typeface="Arial"/>
                          <a:cs typeface="Arial"/>
                        </a:rPr>
                        <a:t>lightup-3</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0.064</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0.087</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4.74</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6.23</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7</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9</a:t>
                      </a:r>
                    </a:p>
                  </a:txBody>
                  <a:tcPr marL="91440" marR="91440" marT="45720" marB="45720" anchor="ctr">
                    <a:solidFill>
                      <a:srgbClr val="FFFFFF"/>
                    </a:solidFill>
                  </a:tcPr>
                </a:tc>
              </a:tr>
              <a:tr h="457200">
                <a:tc>
                  <a:txBody>
                    <a:bodyPr lIns="76200" tIns="76200" rIns="76200" bIns="66675"/>
                    <a:lstStyle/>
                    <a:p>
                      <a:r>
                        <a:rPr sz="1500" b="0">
                          <a:solidFill>
                            <a:srgbClr val="203D35"/>
                          </a:solidFill>
                          <a:latin typeface="Arial"/>
                          <a:ea typeface="Arial"/>
                          <a:cs typeface="Arial"/>
                        </a:rPr>
                        <a:t>lightup-5</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0.625</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0.780</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14.82</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18.55</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32</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35</a:t>
                      </a:r>
                    </a:p>
                  </a:txBody>
                  <a:tcPr marL="91440" marR="91440" marT="45720" marB="45720" anchor="ctr">
                    <a:solidFill>
                      <a:srgbClr val="EEF2E7"/>
                    </a:solidFill>
                  </a:tcPr>
                </a:tc>
              </a:tr>
              <a:tr h="457200">
                <a:tc>
                  <a:txBody>
                    <a:bodyPr lIns="76200" tIns="76200" rIns="76200" bIns="66675"/>
                    <a:lstStyle/>
                    <a:p>
                      <a:r>
                        <a:rPr sz="1500" b="0">
                          <a:solidFill>
                            <a:srgbClr val="203D35"/>
                          </a:solidFill>
                          <a:latin typeface="Arial"/>
                          <a:ea typeface="Arial"/>
                          <a:cs typeface="Arial"/>
                        </a:rPr>
                        <a:t>lightup-6</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0.447</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0.713</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12.41</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14.36</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20</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26</a:t>
                      </a:r>
                    </a:p>
                  </a:txBody>
                  <a:tcPr marL="91440" marR="91440" marT="45720" marB="45720" anchor="ctr">
                    <a:solidFill>
                      <a:srgbClr val="FFFFFF"/>
                    </a:solidFill>
                  </a:tcPr>
                </a:tc>
              </a:tr>
              <a:tr h="457200">
                <a:tc>
                  <a:txBody>
                    <a:bodyPr lIns="76200" tIns="76200" rIns="76200" bIns="66675"/>
                    <a:lstStyle/>
                    <a:p>
                      <a:r>
                        <a:rPr sz="1500" b="0">
                          <a:solidFill>
                            <a:srgbClr val="203D35"/>
                          </a:solidFill>
                          <a:latin typeface="Arial"/>
                          <a:ea typeface="Arial"/>
                          <a:cs typeface="Arial"/>
                        </a:rPr>
                        <a:t>lightup-7</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1.629</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4.711</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35.10</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61.02</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51</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142</a:t>
                      </a:r>
                    </a:p>
                  </a:txBody>
                  <a:tcPr marL="91440" marR="91440" marT="45720" marB="45720" anchor="ctr">
                    <a:solidFill>
                      <a:srgbClr val="EEF2E7"/>
                    </a:solidFill>
                  </a:tcPr>
                </a:tc>
              </a:tr>
              <a:tr h="457200">
                <a:tc>
                  <a:txBody>
                    <a:bodyPr lIns="76200" tIns="76200" rIns="76200" bIns="66675"/>
                    <a:lstStyle/>
                    <a:p>
                      <a:r>
                        <a:rPr sz="1500" b="0">
                          <a:solidFill>
                            <a:srgbClr val="203D35"/>
                          </a:solidFill>
                          <a:latin typeface="Arial"/>
                          <a:ea typeface="Arial"/>
                          <a:cs typeface="Arial"/>
                        </a:rPr>
                        <a:t>lightup-8-seed-101</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2.197</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2.221</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21.59</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26.36</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52</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44</a:t>
                      </a:r>
                    </a:p>
                  </a:txBody>
                  <a:tcPr marL="91440" marR="91440" marT="45720" marB="45720" anchor="ctr">
                    <a:solidFill>
                      <a:srgbClr val="FFFFFF"/>
                    </a:solidFill>
                  </a:tcPr>
                </a:tc>
              </a:tr>
              <a:tr h="457200">
                <a:tc>
                  <a:txBody>
                    <a:bodyPr lIns="76200" tIns="76200" rIns="76200" bIns="66675"/>
                    <a:lstStyle/>
                    <a:p>
                      <a:r>
                        <a:rPr sz="1500" b="0">
                          <a:solidFill>
                            <a:srgbClr val="203D35"/>
                          </a:solidFill>
                          <a:latin typeface="Arial"/>
                          <a:ea typeface="Arial"/>
                          <a:cs typeface="Arial"/>
                        </a:rPr>
                        <a:t>lightup-8-seed-102</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47.455</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2.577</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366.38</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38.19</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1584</a:t>
                      </a:r>
                    </a:p>
                  </a:txBody>
                  <a:tcPr marL="91440" marR="91440" marT="45720" marB="45720" anchor="ctr">
                    <a:solidFill>
                      <a:srgbClr val="EEF2E7"/>
                    </a:solidFill>
                  </a:tcPr>
                </a:tc>
                <a:tc>
                  <a:txBody>
                    <a:bodyPr lIns="76200" tIns="76200" rIns="76200" bIns="66675"/>
                    <a:lstStyle/>
                    <a:p>
                      <a:r>
                        <a:rPr sz="1500" b="0">
                          <a:solidFill>
                            <a:srgbClr val="203D35"/>
                          </a:solidFill>
                          <a:latin typeface="Arial"/>
                          <a:ea typeface="Arial"/>
                          <a:cs typeface="Arial"/>
                        </a:rPr>
                        <a:t>68</a:t>
                      </a:r>
                    </a:p>
                  </a:txBody>
                  <a:tcPr marL="91440" marR="91440" marT="45720" marB="45720" anchor="ctr">
                    <a:solidFill>
                      <a:srgbClr val="EEF2E7"/>
                    </a:solidFill>
                  </a:tcPr>
                </a:tc>
              </a:tr>
              <a:tr h="457200">
                <a:tc>
                  <a:txBody>
                    <a:bodyPr lIns="76200" tIns="76200" rIns="76200" bIns="66675"/>
                    <a:lstStyle/>
                    <a:p>
                      <a:r>
                        <a:rPr sz="1500" b="0">
                          <a:solidFill>
                            <a:srgbClr val="203D35"/>
                          </a:solidFill>
                          <a:latin typeface="Arial"/>
                          <a:ea typeface="Arial"/>
                          <a:cs typeface="Arial"/>
                        </a:rPr>
                        <a:t>lightup-8-seed-103</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1.881</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1.744</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31.78</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31.41</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53</a:t>
                      </a:r>
                    </a:p>
                  </a:txBody>
                  <a:tcPr marL="91440" marR="91440" marT="45720" marB="45720" anchor="ctr">
                    <a:solidFill>
                      <a:srgbClr val="FFFFFF"/>
                    </a:solidFill>
                  </a:tcPr>
                </a:tc>
                <a:tc>
                  <a:txBody>
                    <a:bodyPr lIns="76200" tIns="76200" rIns="76200" bIns="66675"/>
                    <a:lstStyle/>
                    <a:p>
                      <a:r>
                        <a:rPr sz="1500" b="0">
                          <a:solidFill>
                            <a:srgbClr val="203D35"/>
                          </a:solidFill>
                          <a:latin typeface="Arial"/>
                          <a:ea typeface="Arial"/>
                          <a:cs typeface="Arial"/>
                        </a:rPr>
                        <a:t>43</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20FAF76-991F-44EF-A342-B9E514919EE0}"/>
              </a:ext>
            </a:extLst>
          </p:cNvPr>
          <p:cNvSpPr>
            <a:spLocks xmlns:a="http://schemas.openxmlformats.org/drawingml/2006/main" noGrp="1"/>
          </p:cNvSpPr>
          <p:nvPr/>
        </p:nvSpPr>
        <p:spPr>
          <a:xfrm xmlns:a="http://schemas.openxmlformats.org/drawingml/2006/main">
            <a:off x="609600" y="59055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61745D"/>
                </a:solidFill>
                <a:latin typeface="Arial"/>
                <a:ea typeface="Arial"/>
                <a:cs typeface="Arial"/>
              </a:defRPr>
            </a:defPPr>
            <a:lvl1pPr>
              <a:defRPr sz="1350" b="0">
                <a:solidFill>
                  <a:srgbClr val="61745D"/>
                </a:solidFill>
                <a:latin typeface="Arial"/>
                <a:ea typeface="Arial"/>
                <a:cs typeface="Arial"/>
              </a:defRPr>
            </a:lvl1pPr>
            <a:lvl2pPr>
              <a:defRPr sz="1350" b="0">
                <a:solidFill>
                  <a:srgbClr val="61745D"/>
                </a:solidFill>
                <a:latin typeface="Arial"/>
                <a:ea typeface="Arial"/>
                <a:cs typeface="Arial"/>
              </a:defRPr>
            </a:lvl2pPr>
            <a:lvl3pPr>
              <a:defRPr sz="1350" b="0">
                <a:solidFill>
                  <a:srgbClr val="61745D"/>
                </a:solidFill>
                <a:latin typeface="Arial"/>
                <a:ea typeface="Arial"/>
                <a:cs typeface="Arial"/>
              </a:defRPr>
            </a:lvl3pPr>
            <a:lvl4pPr>
              <a:defRPr sz="1350" b="0">
                <a:solidFill>
                  <a:srgbClr val="61745D"/>
                </a:solidFill>
                <a:latin typeface="Arial"/>
                <a:ea typeface="Arial"/>
                <a:cs typeface="Arial"/>
              </a:defRPr>
            </a:lvl4pPr>
            <a:lvl5pPr>
              <a:defRPr sz="1350" b="0">
                <a:solidFill>
                  <a:srgbClr val="61745D"/>
                </a:solidFill>
                <a:latin typeface="Arial"/>
                <a:ea typeface="Arial"/>
                <a:cs typeface="Arial"/>
              </a:defRPr>
            </a:lvl5pPr>
            <a:lvl6pPr>
              <a:defRPr sz="1350" b="0">
                <a:solidFill>
                  <a:srgbClr val="61745D"/>
                </a:solidFill>
                <a:latin typeface="Arial"/>
                <a:ea typeface="Arial"/>
                <a:cs typeface="Arial"/>
              </a:defRPr>
            </a:lvl6pPr>
            <a:lvl7pPr>
              <a:defRPr sz="1350" b="0">
                <a:solidFill>
                  <a:srgbClr val="61745D"/>
                </a:solidFill>
                <a:latin typeface="Arial"/>
                <a:ea typeface="Arial"/>
                <a:cs typeface="Arial"/>
              </a:defRPr>
            </a:lvl7pPr>
            <a:lvl8pPr>
              <a:defRPr sz="1350" b="0">
                <a:solidFill>
                  <a:srgbClr val="61745D"/>
                </a:solidFill>
                <a:latin typeface="Arial"/>
                <a:ea typeface="Arial"/>
                <a:cs typeface="Arial"/>
              </a:defRPr>
            </a:lvl8pPr>
            <a:lvl9pPr>
              <a:defRPr sz="1350" b="0">
                <a:solidFill>
                  <a:srgbClr val="61745D"/>
                </a:solidFill>
                <a:latin typeface="Arial"/>
                <a:ea typeface="Arial"/>
                <a:cs typeface="Arial"/>
              </a:defRPr>
            </a:lvl9pPr>
          </a:lstStyle>
          <a:p xmlns:a="http://schemas.openxmlformats.org/drawingml/2006/main">
            <a:pPr>
              <a:defRPr sz="1350" b="0">
                <a:solidFill>
                  <a:srgbClr val="61745D"/>
                </a:solidFill>
                <a:latin typeface="Arial"/>
                <a:ea typeface="Arial"/>
                <a:cs typeface="Arial"/>
              </a:defRPr>
            </a:pPr>
            <a:r>
              <a:rPr sz="1350" b="0">
                <a:solidFill>
                  <a:srgbClr val="61745D"/>
                </a:solidFill>
                <a:latin typeface="Arial"/>
                <a:ea typeface="Arial"/>
                <a:cs typeface="Arial"/>
              </a:rPr>
              <a:t>ms: median search · KiB: peak cấp phát Python · N: trạng thái đã xét (gồm đích)</a:t>
            </a:r>
          </a:p>
        </p:txBody>
      </p:sp>
      <p:sp>
        <p:nvSpPr>
          <p:cNvPr id="5" name="">
            <a:extLst xmlns:a="http://schemas.openxmlformats.org/drawingml/2006/main">
              <a:ext uri="{FF2B5EF4-FFF2-40B4-BE49-F238E27FC236}">
                <a16:creationId xmlns:a16="http://schemas.microsoft.com/office/drawing/2014/main" id="{893F2C4D-161D-49AE-88B0-A9DAB43346E4}"/>
              </a:ext>
            </a:extLst>
          </p:cNvPr>
          <p:cNvSpPr>
            <a:spLocks xmlns:a="http://schemas.openxmlformats.org/drawingml/2006/main" noGrp="1"/>
          </p:cNvSpPr>
          <p:nvPr/>
        </p:nvSpPr>
        <p:spPr>
          <a:xfrm xmlns:a="http://schemas.openxmlformats.org/drawingml/2006/main">
            <a:off x="609600" y="5429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03D35"/>
                </a:solidFill>
                <a:latin typeface="Arial"/>
                <a:ea typeface="Arial"/>
                <a:cs typeface="Arial"/>
              </a:defRPr>
            </a:defPPr>
            <a:lvl1pPr>
              <a:defRPr sz="1875" b="1">
                <a:solidFill>
                  <a:srgbClr val="203D35"/>
                </a:solidFill>
                <a:latin typeface="Arial"/>
                <a:ea typeface="Arial"/>
                <a:cs typeface="Arial"/>
              </a:defRPr>
            </a:lvl1pPr>
            <a:lvl2pPr>
              <a:defRPr sz="1875" b="1">
                <a:solidFill>
                  <a:srgbClr val="203D35"/>
                </a:solidFill>
                <a:latin typeface="Arial"/>
                <a:ea typeface="Arial"/>
                <a:cs typeface="Arial"/>
              </a:defRPr>
            </a:lvl2pPr>
            <a:lvl3pPr>
              <a:defRPr sz="1875" b="1">
                <a:solidFill>
                  <a:srgbClr val="203D35"/>
                </a:solidFill>
                <a:latin typeface="Arial"/>
                <a:ea typeface="Arial"/>
                <a:cs typeface="Arial"/>
              </a:defRPr>
            </a:lvl3pPr>
            <a:lvl4pPr>
              <a:defRPr sz="1875" b="1">
                <a:solidFill>
                  <a:srgbClr val="203D35"/>
                </a:solidFill>
                <a:latin typeface="Arial"/>
                <a:ea typeface="Arial"/>
                <a:cs typeface="Arial"/>
              </a:defRPr>
            </a:lvl4pPr>
            <a:lvl5pPr>
              <a:defRPr sz="1875" b="1">
                <a:solidFill>
                  <a:srgbClr val="203D35"/>
                </a:solidFill>
                <a:latin typeface="Arial"/>
                <a:ea typeface="Arial"/>
                <a:cs typeface="Arial"/>
              </a:defRPr>
            </a:lvl5pPr>
            <a:lvl6pPr>
              <a:defRPr sz="1875" b="1">
                <a:solidFill>
                  <a:srgbClr val="203D35"/>
                </a:solidFill>
                <a:latin typeface="Arial"/>
                <a:ea typeface="Arial"/>
                <a:cs typeface="Arial"/>
              </a:defRPr>
            </a:lvl6pPr>
            <a:lvl7pPr>
              <a:defRPr sz="1875" b="1">
                <a:solidFill>
                  <a:srgbClr val="203D35"/>
                </a:solidFill>
                <a:latin typeface="Arial"/>
                <a:ea typeface="Arial"/>
                <a:cs typeface="Arial"/>
              </a:defRPr>
            </a:lvl7pPr>
            <a:lvl8pPr>
              <a:defRPr sz="1875" b="1">
                <a:solidFill>
                  <a:srgbClr val="203D35"/>
                </a:solidFill>
                <a:latin typeface="Arial"/>
                <a:ea typeface="Arial"/>
                <a:cs typeface="Arial"/>
              </a:defRPr>
            </a:lvl8pPr>
            <a:lvl9pPr>
              <a:defRPr sz="1875" b="1">
                <a:solidFill>
                  <a:srgbClr val="203D35"/>
                </a:solidFill>
                <a:latin typeface="Arial"/>
                <a:ea typeface="Arial"/>
                <a:cs typeface="Arial"/>
              </a:defRPr>
            </a:lvl9pPr>
          </a:lstStyle>
          <a:p xmlns:a="http://schemas.openxmlformats.org/drawingml/2006/main">
            <a:pPr>
              <a:defRPr sz="1875" b="1">
                <a:solidFill>
                  <a:srgbClr val="203D35"/>
                </a:solidFill>
                <a:latin typeface="Arial"/>
                <a:ea typeface="Arial"/>
                <a:cs typeface="Arial"/>
              </a:defRPr>
            </a:pPr>
            <a:r>
              <a:rPr sz="1875" b="1">
                <a:solidFill>
                  <a:srgbClr val="203D35"/>
                </a:solidFill>
                <a:latin typeface="Arial"/>
                <a:ea typeface="Arial"/>
                <a:cs typeface="Arial"/>
              </a:rPr>
              <a:t>Greedy giảm nhiều nhánh ở 8×8 seed 102; tăng nhánh ở lightup-7.</a:t>
            </a:r>
          </a:p>
        </p:txBody>
      </p:sp>
    </p:spTree>
    <p:extLst>
      <p:ext uri="{BB962C8B-B14F-4D97-AF65-F5344CB8AC3E}">
        <p14:creationId xmlns:p14="http://schemas.microsoft.com/office/powerpoint/2010/main" val="403626650"/>
      </p:ext>
    </p:extLst>
  </p:cSld>
</p:sld>
</file>

<file path=ppt/slides/slide11.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77CD74-C535-4565-8ECD-79D790178D32}"/>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Heuristic có thể giúp hoặc gây lệch hướng</a:t>
            </a:r>
          </a:p>
        </p:txBody>
      </p:sp>
      <p:sp>
        <p:nvSpPr>
          <p:cNvPr id="2" name="">
            <a:extLst xmlns:a="http://schemas.openxmlformats.org/drawingml/2006/main">
              <a:ext uri="{FF2B5EF4-FFF2-40B4-BE49-F238E27FC236}">
                <a16:creationId xmlns:a16="http://schemas.microsoft.com/office/drawing/2014/main" id="{E928CD78-17CF-4C67-ADE9-FD7F0F932442}"/>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11</a:t>
            </a:r>
          </a:p>
        </p:txBody>
      </p:sp>
      <p:sp>
        <p:nvSpPr>
          <p:cNvPr id="3" name="">
            <a:extLst xmlns:a="http://schemas.openxmlformats.org/drawingml/2006/main">
              <a:ext uri="{FF2B5EF4-FFF2-40B4-BE49-F238E27FC236}">
                <a16:creationId xmlns:a16="http://schemas.microsoft.com/office/drawing/2014/main" id="{186C0B8E-5F02-45CC-A177-299E087232DD}"/>
              </a:ext>
            </a:extLst>
          </p:cNvPr>
          <p:cNvSpPr>
            <a:spLocks xmlns:a="http://schemas.openxmlformats.org/drawingml/2006/main" noGrp="1"/>
          </p:cNvSpPr>
          <p:nvPr/>
        </p:nvSpPr>
        <p:spPr>
          <a:xfrm xmlns:a="http://schemas.openxmlformats.org/drawingml/2006/main">
            <a:off x="609600" y="14763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03D35"/>
                </a:solidFill>
                <a:latin typeface="Arial"/>
                <a:ea typeface="Arial"/>
                <a:cs typeface="Arial"/>
              </a:defRPr>
            </a:defPPr>
            <a:lvl1pPr>
              <a:defRPr sz="2025" b="1">
                <a:solidFill>
                  <a:srgbClr val="203D35"/>
                </a:solidFill>
                <a:latin typeface="Arial"/>
                <a:ea typeface="Arial"/>
                <a:cs typeface="Arial"/>
              </a:defRPr>
            </a:lvl1pPr>
            <a:lvl2pPr>
              <a:defRPr sz="2025" b="1">
                <a:solidFill>
                  <a:srgbClr val="203D35"/>
                </a:solidFill>
                <a:latin typeface="Arial"/>
                <a:ea typeface="Arial"/>
                <a:cs typeface="Arial"/>
              </a:defRPr>
            </a:lvl2pPr>
            <a:lvl3pPr>
              <a:defRPr sz="2025" b="1">
                <a:solidFill>
                  <a:srgbClr val="203D35"/>
                </a:solidFill>
                <a:latin typeface="Arial"/>
                <a:ea typeface="Arial"/>
                <a:cs typeface="Arial"/>
              </a:defRPr>
            </a:lvl3pPr>
            <a:lvl4pPr>
              <a:defRPr sz="2025" b="1">
                <a:solidFill>
                  <a:srgbClr val="203D35"/>
                </a:solidFill>
                <a:latin typeface="Arial"/>
                <a:ea typeface="Arial"/>
                <a:cs typeface="Arial"/>
              </a:defRPr>
            </a:lvl4pPr>
            <a:lvl5pPr>
              <a:defRPr sz="2025" b="1">
                <a:solidFill>
                  <a:srgbClr val="203D35"/>
                </a:solidFill>
                <a:latin typeface="Arial"/>
                <a:ea typeface="Arial"/>
                <a:cs typeface="Arial"/>
              </a:defRPr>
            </a:lvl5pPr>
            <a:lvl6pPr>
              <a:defRPr sz="2025" b="1">
                <a:solidFill>
                  <a:srgbClr val="203D35"/>
                </a:solidFill>
                <a:latin typeface="Arial"/>
                <a:ea typeface="Arial"/>
                <a:cs typeface="Arial"/>
              </a:defRPr>
            </a:lvl6pPr>
            <a:lvl7pPr>
              <a:defRPr sz="2025" b="1">
                <a:solidFill>
                  <a:srgbClr val="203D35"/>
                </a:solidFill>
                <a:latin typeface="Arial"/>
                <a:ea typeface="Arial"/>
                <a:cs typeface="Arial"/>
              </a:defRPr>
            </a:lvl7pPr>
            <a:lvl8pPr>
              <a:defRPr sz="2025" b="1">
                <a:solidFill>
                  <a:srgbClr val="203D35"/>
                </a:solidFill>
                <a:latin typeface="Arial"/>
                <a:ea typeface="Arial"/>
                <a:cs typeface="Arial"/>
              </a:defRPr>
            </a:lvl8pPr>
            <a:lvl9pPr>
              <a:defRPr sz="2025" b="1">
                <a:solidFill>
                  <a:srgbClr val="203D35"/>
                </a:solidFill>
                <a:latin typeface="Arial"/>
                <a:ea typeface="Arial"/>
                <a:cs typeface="Arial"/>
              </a:defRPr>
            </a:lvl9pPr>
          </a:lstStyle>
          <a:p xmlns:a="http://schemas.openxmlformats.org/drawingml/2006/main">
            <a:pPr>
              <a:defRPr sz="2025" b="1">
                <a:solidFill>
                  <a:srgbClr val="203D35"/>
                </a:solidFill>
                <a:latin typeface="Arial"/>
                <a:ea typeface="Arial"/>
                <a:cs typeface="Arial"/>
              </a:defRPr>
            </a:pPr>
            <a:r>
              <a:rPr sz="2025" b="1">
                <a:solidFill>
                  <a:srgbClr val="203D35"/>
                </a:solidFill>
                <a:latin typeface="Arial"/>
                <a:ea typeface="Arial"/>
                <a:cs typeface="Arial"/>
              </a:rPr>
              <a:t>lightup-7</a:t>
            </a:r>
          </a:p>
        </p:txBody>
      </p:sp>
      <p:graphicFrame>
        <p:nvGraphicFramePr>
          <p:cNvPr id="4" name="Chart">
            <a:extLst xmlns:a="http://schemas.openxmlformats.org/drawingml/2006/main">
              <a:ext uri="{FF2B5EF4-FFF2-40B4-BE49-F238E27FC236}">
                <a16:creationId xmlns:a16="http://schemas.microsoft.com/office/drawing/2014/main" id="{E2C1ED42-4DD3-4E59-AB21-8C520456E10B}"/>
              </a:ext>
            </a:extLst>
          </p:cNvPr>
          <p:cNvGraphicFramePr/>
          <p:nvPr/>
        </p:nvGraphicFramePr>
        <p:xfrm>
          <a:off xmlns:a="http://schemas.openxmlformats.org/drawingml/2006/main" x="609600" y="2095500"/>
          <a:ext xmlns:a="http://schemas.openxmlformats.org/drawingml/2006/main" cx="5238750" cy="3143250"/>
        </p:xfrm>
        <a:graphic xmlns:a="http://schemas.openxmlformats.org/drawingml/2006/main">
          <a:graphicData uri="http://schemas.openxmlformats.org/drawingml/2006/chart">
            <c:chart xmlns:r="http://schemas.openxmlformats.org/officeDocument/2006/relationships" xmlns:c="http://schemas.openxmlformats.org/drawingml/2006/chart" r:id="R4bd03fe190cb4b77"/>
          </a:graphicData>
        </a:graphic>
      </p:graphicFrame>
      <p:sp>
        <p:nvSpPr>
          <p:cNvPr id="5" name="">
            <a:extLst xmlns:a="http://schemas.openxmlformats.org/drawingml/2006/main">
              <a:ext uri="{FF2B5EF4-FFF2-40B4-BE49-F238E27FC236}">
                <a16:creationId xmlns:a16="http://schemas.microsoft.com/office/drawing/2014/main" id="{7C9E85DE-2E74-4AD4-A977-91596DA3456B}"/>
              </a:ext>
            </a:extLst>
          </p:cNvPr>
          <p:cNvSpPr>
            <a:spLocks xmlns:a="http://schemas.openxmlformats.org/drawingml/2006/main" noGrp="1"/>
          </p:cNvSpPr>
          <p:nvPr/>
        </p:nvSpPr>
        <p:spPr>
          <a:xfrm xmlns:a="http://schemas.openxmlformats.org/drawingml/2006/main">
            <a:off x="6229350" y="14763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03D35"/>
                </a:solidFill>
                <a:latin typeface="Arial"/>
                <a:ea typeface="Arial"/>
                <a:cs typeface="Arial"/>
              </a:defRPr>
            </a:defPPr>
            <a:lvl1pPr>
              <a:defRPr sz="2025" b="1">
                <a:solidFill>
                  <a:srgbClr val="203D35"/>
                </a:solidFill>
                <a:latin typeface="Arial"/>
                <a:ea typeface="Arial"/>
                <a:cs typeface="Arial"/>
              </a:defRPr>
            </a:lvl1pPr>
            <a:lvl2pPr>
              <a:defRPr sz="2025" b="1">
                <a:solidFill>
                  <a:srgbClr val="203D35"/>
                </a:solidFill>
                <a:latin typeface="Arial"/>
                <a:ea typeface="Arial"/>
                <a:cs typeface="Arial"/>
              </a:defRPr>
            </a:lvl2pPr>
            <a:lvl3pPr>
              <a:defRPr sz="2025" b="1">
                <a:solidFill>
                  <a:srgbClr val="203D35"/>
                </a:solidFill>
                <a:latin typeface="Arial"/>
                <a:ea typeface="Arial"/>
                <a:cs typeface="Arial"/>
              </a:defRPr>
            </a:lvl3pPr>
            <a:lvl4pPr>
              <a:defRPr sz="2025" b="1">
                <a:solidFill>
                  <a:srgbClr val="203D35"/>
                </a:solidFill>
                <a:latin typeface="Arial"/>
                <a:ea typeface="Arial"/>
                <a:cs typeface="Arial"/>
              </a:defRPr>
            </a:lvl4pPr>
            <a:lvl5pPr>
              <a:defRPr sz="2025" b="1">
                <a:solidFill>
                  <a:srgbClr val="203D35"/>
                </a:solidFill>
                <a:latin typeface="Arial"/>
                <a:ea typeface="Arial"/>
                <a:cs typeface="Arial"/>
              </a:defRPr>
            </a:lvl5pPr>
            <a:lvl6pPr>
              <a:defRPr sz="2025" b="1">
                <a:solidFill>
                  <a:srgbClr val="203D35"/>
                </a:solidFill>
                <a:latin typeface="Arial"/>
                <a:ea typeface="Arial"/>
                <a:cs typeface="Arial"/>
              </a:defRPr>
            </a:lvl6pPr>
            <a:lvl7pPr>
              <a:defRPr sz="2025" b="1">
                <a:solidFill>
                  <a:srgbClr val="203D35"/>
                </a:solidFill>
                <a:latin typeface="Arial"/>
                <a:ea typeface="Arial"/>
                <a:cs typeface="Arial"/>
              </a:defRPr>
            </a:lvl7pPr>
            <a:lvl8pPr>
              <a:defRPr sz="2025" b="1">
                <a:solidFill>
                  <a:srgbClr val="203D35"/>
                </a:solidFill>
                <a:latin typeface="Arial"/>
                <a:ea typeface="Arial"/>
                <a:cs typeface="Arial"/>
              </a:defRPr>
            </a:lvl8pPr>
            <a:lvl9pPr>
              <a:defRPr sz="2025" b="1">
                <a:solidFill>
                  <a:srgbClr val="203D35"/>
                </a:solidFill>
                <a:latin typeface="Arial"/>
                <a:ea typeface="Arial"/>
                <a:cs typeface="Arial"/>
              </a:defRPr>
            </a:lvl9pPr>
          </a:lstStyle>
          <a:p xmlns:a="http://schemas.openxmlformats.org/drawingml/2006/main">
            <a:pPr>
              <a:defRPr sz="2025" b="1">
                <a:solidFill>
                  <a:srgbClr val="203D35"/>
                </a:solidFill>
                <a:latin typeface="Arial"/>
                <a:ea typeface="Arial"/>
                <a:cs typeface="Arial"/>
              </a:defRPr>
            </a:pPr>
            <a:r>
              <a:rPr sz="2025" b="1">
                <a:solidFill>
                  <a:srgbClr val="203D35"/>
                </a:solidFill>
                <a:latin typeface="Arial"/>
                <a:ea typeface="Arial"/>
                <a:cs typeface="Arial"/>
              </a:rPr>
              <a:t>lightup-8-seed-102</a:t>
            </a:r>
          </a:p>
        </p:txBody>
      </p:sp>
      <p:graphicFrame>
        <p:nvGraphicFramePr>
          <p:cNvPr id="6" name="Chart">
            <a:extLst xmlns:a="http://schemas.openxmlformats.org/drawingml/2006/main">
              <a:ext uri="{FF2B5EF4-FFF2-40B4-BE49-F238E27FC236}">
                <a16:creationId xmlns:a16="http://schemas.microsoft.com/office/drawing/2014/main" id="{C6C7CA9A-AAF1-4089-A1E2-CD0571189F48}"/>
              </a:ext>
            </a:extLst>
          </p:cNvPr>
          <p:cNvGraphicFramePr/>
          <p:nvPr/>
        </p:nvGraphicFramePr>
        <p:xfrm>
          <a:off xmlns:a="http://schemas.openxmlformats.org/drawingml/2006/main" x="6229350" y="2095500"/>
          <a:ext xmlns:a="http://schemas.openxmlformats.org/drawingml/2006/main" cx="5238750" cy="3143250"/>
        </p:xfrm>
        <a:graphic xmlns:a="http://schemas.openxmlformats.org/drawingml/2006/main">
          <a:graphicData uri="http://schemas.openxmlformats.org/drawingml/2006/chart">
            <c:chart xmlns:r="http://schemas.openxmlformats.org/officeDocument/2006/relationships" xmlns:c="http://schemas.openxmlformats.org/drawingml/2006/chart" r:id="R33914fa6390e4d4e"/>
          </a:graphicData>
        </a:graphic>
      </p:graphicFrame>
      <p:sp>
        <p:nvSpPr>
          <p:cNvPr id="7" name="">
            <a:extLst xmlns:a="http://schemas.openxmlformats.org/drawingml/2006/main">
              <a:ext uri="{FF2B5EF4-FFF2-40B4-BE49-F238E27FC236}">
                <a16:creationId xmlns:a16="http://schemas.microsoft.com/office/drawing/2014/main" id="{CA82BF7B-79A5-47D8-919E-A3022A043E12}"/>
              </a:ext>
            </a:extLst>
          </p:cNvPr>
          <p:cNvSpPr>
            <a:spLocks xmlns:a="http://schemas.openxmlformats.org/drawingml/2006/main" noGrp="1"/>
          </p:cNvSpPr>
          <p:nvPr/>
        </p:nvSpPr>
        <p:spPr>
          <a:xfrm xmlns:a="http://schemas.openxmlformats.org/drawingml/2006/main">
            <a:off x="609600" y="56197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1745D"/>
                </a:solidFill>
                <a:latin typeface="Arial"/>
                <a:ea typeface="Arial"/>
                <a:cs typeface="Arial"/>
              </a:defRPr>
            </a:defPPr>
            <a:lvl1pPr>
              <a:defRPr sz="1500" b="0">
                <a:solidFill>
                  <a:srgbClr val="61745D"/>
                </a:solidFill>
                <a:latin typeface="Arial"/>
                <a:ea typeface="Arial"/>
                <a:cs typeface="Arial"/>
              </a:defRPr>
            </a:lvl1pPr>
            <a:lvl2pPr>
              <a:defRPr sz="1500" b="0">
                <a:solidFill>
                  <a:srgbClr val="61745D"/>
                </a:solidFill>
                <a:latin typeface="Arial"/>
                <a:ea typeface="Arial"/>
                <a:cs typeface="Arial"/>
              </a:defRPr>
            </a:lvl2pPr>
            <a:lvl3pPr>
              <a:defRPr sz="1500" b="0">
                <a:solidFill>
                  <a:srgbClr val="61745D"/>
                </a:solidFill>
                <a:latin typeface="Arial"/>
                <a:ea typeface="Arial"/>
                <a:cs typeface="Arial"/>
              </a:defRPr>
            </a:lvl3pPr>
            <a:lvl4pPr>
              <a:defRPr sz="1500" b="0">
                <a:solidFill>
                  <a:srgbClr val="61745D"/>
                </a:solidFill>
                <a:latin typeface="Arial"/>
                <a:ea typeface="Arial"/>
                <a:cs typeface="Arial"/>
              </a:defRPr>
            </a:lvl4pPr>
            <a:lvl5pPr>
              <a:defRPr sz="1500" b="0">
                <a:solidFill>
                  <a:srgbClr val="61745D"/>
                </a:solidFill>
                <a:latin typeface="Arial"/>
                <a:ea typeface="Arial"/>
                <a:cs typeface="Arial"/>
              </a:defRPr>
            </a:lvl5pPr>
            <a:lvl6pPr>
              <a:defRPr sz="1500" b="0">
                <a:solidFill>
                  <a:srgbClr val="61745D"/>
                </a:solidFill>
                <a:latin typeface="Arial"/>
                <a:ea typeface="Arial"/>
                <a:cs typeface="Arial"/>
              </a:defRPr>
            </a:lvl6pPr>
            <a:lvl7pPr>
              <a:defRPr sz="1500" b="0">
                <a:solidFill>
                  <a:srgbClr val="61745D"/>
                </a:solidFill>
                <a:latin typeface="Arial"/>
                <a:ea typeface="Arial"/>
                <a:cs typeface="Arial"/>
              </a:defRPr>
            </a:lvl7pPr>
            <a:lvl8pPr>
              <a:defRPr sz="1500" b="0">
                <a:solidFill>
                  <a:srgbClr val="61745D"/>
                </a:solidFill>
                <a:latin typeface="Arial"/>
                <a:ea typeface="Arial"/>
                <a:cs typeface="Arial"/>
              </a:defRPr>
            </a:lvl8pPr>
            <a:lvl9pPr>
              <a:defRPr sz="1500" b="0">
                <a:solidFill>
                  <a:srgbClr val="61745D"/>
                </a:solidFill>
                <a:latin typeface="Arial"/>
                <a:ea typeface="Arial"/>
                <a:cs typeface="Arial"/>
              </a:defRPr>
            </a:lvl9pPr>
          </a:lstStyle>
          <a:p xmlns:a="http://schemas.openxmlformats.org/drawingml/2006/main">
            <a:pPr>
              <a:defRPr sz="1500" b="0">
                <a:solidFill>
                  <a:srgbClr val="61745D"/>
                </a:solidFill>
                <a:latin typeface="Arial"/>
                <a:ea typeface="Arial"/>
                <a:cs typeface="Arial"/>
              </a:defRPr>
            </a:pPr>
            <a:r>
              <a:rPr sz="1500" b="0">
                <a:solidFill>
                  <a:srgbClr val="61745D"/>
                </a:solidFill>
                <a:latin typeface="Arial"/>
                <a:ea typeface="Arial"/>
                <a:cs typeface="Arial"/>
              </a:rPr>
              <a:t>Hai biểu đồ dùng thang trục độc lập. Nguồn: benchmark, cùng chính sách cắt nhánh.</a:t>
            </a:r>
          </a:p>
        </p:txBody>
      </p:sp>
    </p:spTree>
    <p:extLst>
      <p:ext uri="{BB962C8B-B14F-4D97-AF65-F5344CB8AC3E}">
        <p14:creationId xmlns:p14="http://schemas.microsoft.com/office/powerpoint/2010/main" val="1484757028"/>
      </p:ext>
    </p:extLst>
  </p:cSld>
</p:sld>
</file>

<file path=ppt/slides/slide12.xml><?xml version="1.0" encoding="utf-8"?>
<p:sld xmlns:p="http://schemas.openxmlformats.org/presentationml/2006/main">
  <p:cSld>
    <p:bg>
      <p:bgPr>
        <a:solidFill xmlns:a="http://schemas.openxmlformats.org/drawingml/2006/main">
          <a:srgbClr val="F7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7BC23A-57A8-4EAE-8D9C-B44E37C9C87F}"/>
              </a:ext>
            </a:extLst>
          </p:cNvPr>
          <p:cNvSpPr>
            <a:spLocks xmlns:a="http://schemas.openxmlformats.org/drawingml/2006/main" noGrp="1"/>
          </p:cNvSpPr>
          <p:nvPr/>
        </p:nvSpPr>
        <p:spPr>
          <a:xfrm xmlns:a="http://schemas.openxmlformats.org/drawingml/2006/main">
            <a:off x="609600" y="428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03D35"/>
                </a:solidFill>
                <a:latin typeface="Arial"/>
                <a:ea typeface="Arial"/>
                <a:cs typeface="Arial"/>
              </a:defRPr>
            </a:defPPr>
            <a:lvl1pPr>
              <a:defRPr sz="3450" b="1">
                <a:solidFill>
                  <a:srgbClr val="203D35"/>
                </a:solidFill>
                <a:latin typeface="Arial"/>
                <a:ea typeface="Arial"/>
                <a:cs typeface="Arial"/>
              </a:defRPr>
            </a:lvl1pPr>
            <a:lvl2pPr>
              <a:defRPr sz="3450" b="1">
                <a:solidFill>
                  <a:srgbClr val="203D35"/>
                </a:solidFill>
                <a:latin typeface="Arial"/>
                <a:ea typeface="Arial"/>
                <a:cs typeface="Arial"/>
              </a:defRPr>
            </a:lvl2pPr>
            <a:lvl3pPr>
              <a:defRPr sz="3450" b="1">
                <a:solidFill>
                  <a:srgbClr val="203D35"/>
                </a:solidFill>
                <a:latin typeface="Arial"/>
                <a:ea typeface="Arial"/>
                <a:cs typeface="Arial"/>
              </a:defRPr>
            </a:lvl3pPr>
            <a:lvl4pPr>
              <a:defRPr sz="3450" b="1">
                <a:solidFill>
                  <a:srgbClr val="203D35"/>
                </a:solidFill>
                <a:latin typeface="Arial"/>
                <a:ea typeface="Arial"/>
                <a:cs typeface="Arial"/>
              </a:defRPr>
            </a:lvl4pPr>
            <a:lvl5pPr>
              <a:defRPr sz="3450" b="1">
                <a:solidFill>
                  <a:srgbClr val="203D35"/>
                </a:solidFill>
                <a:latin typeface="Arial"/>
                <a:ea typeface="Arial"/>
                <a:cs typeface="Arial"/>
              </a:defRPr>
            </a:lvl5pPr>
            <a:lvl6pPr>
              <a:defRPr sz="3450" b="1">
                <a:solidFill>
                  <a:srgbClr val="203D35"/>
                </a:solidFill>
                <a:latin typeface="Arial"/>
                <a:ea typeface="Arial"/>
                <a:cs typeface="Arial"/>
              </a:defRPr>
            </a:lvl6pPr>
            <a:lvl7pPr>
              <a:defRPr sz="3450" b="1">
                <a:solidFill>
                  <a:srgbClr val="203D35"/>
                </a:solidFill>
                <a:latin typeface="Arial"/>
                <a:ea typeface="Arial"/>
                <a:cs typeface="Arial"/>
              </a:defRPr>
            </a:lvl7pPr>
            <a:lvl8pPr>
              <a:defRPr sz="3450" b="1">
                <a:solidFill>
                  <a:srgbClr val="203D35"/>
                </a:solidFill>
                <a:latin typeface="Arial"/>
                <a:ea typeface="Arial"/>
                <a:cs typeface="Arial"/>
              </a:defRPr>
            </a:lvl8pPr>
            <a:lvl9pPr>
              <a:defRPr sz="3450" b="1">
                <a:solidFill>
                  <a:srgbClr val="203D35"/>
                </a:solidFill>
                <a:latin typeface="Arial"/>
                <a:ea typeface="Arial"/>
                <a:cs typeface="Arial"/>
              </a:defRPr>
            </a:lvl9pPr>
          </a:lstStyle>
          <a:p xmlns:a="http://schemas.openxmlformats.org/drawingml/2006/main">
            <a:pPr>
              <a:defRPr sz="3450" b="1">
                <a:solidFill>
                  <a:srgbClr val="203D35"/>
                </a:solidFill>
                <a:latin typeface="Arial"/>
                <a:ea typeface="Arial"/>
                <a:cs typeface="Arial"/>
              </a:defRPr>
            </a:pPr>
            <a:r>
              <a:rPr sz="3450" b="1">
                <a:solidFill>
                  <a:srgbClr val="203D35"/>
                </a:solidFill>
                <a:latin typeface="Arial"/>
                <a:ea typeface="Arial"/>
                <a:cs typeface="Arial"/>
              </a:rPr>
              <a:t>Kiểm chứng và demo trực tiếp</a:t>
            </a:r>
          </a:p>
        </p:txBody>
      </p:sp>
      <p:sp>
        <p:nvSpPr>
          <p:cNvPr id="2" name="">
            <a:extLst xmlns:a="http://schemas.openxmlformats.org/drawingml/2006/main">
              <a:ext uri="{FF2B5EF4-FFF2-40B4-BE49-F238E27FC236}">
                <a16:creationId xmlns:a16="http://schemas.microsoft.com/office/drawing/2014/main" id="{9C07B57D-74CE-46F9-8F36-E37BC3592665}"/>
              </a:ext>
            </a:extLst>
          </p:cNvPr>
          <p:cNvSpPr>
            <a:spLocks xmlns:a="http://schemas.openxmlformats.org/drawingml/2006/main" noGrp="1"/>
          </p:cNvSpPr>
          <p:nvPr/>
        </p:nvSpPr>
        <p:spPr>
          <a:xfrm xmlns:a="http://schemas.openxmlformats.org/drawingml/2006/main">
            <a:off x="609600" y="64103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1745D"/>
                </a:solidFill>
                <a:latin typeface="Arial"/>
                <a:ea typeface="Arial"/>
                <a:cs typeface="Arial"/>
              </a:defRPr>
            </a:defPPr>
            <a:lvl1pPr>
              <a:defRPr sz="1200" b="0">
                <a:solidFill>
                  <a:srgbClr val="61745D"/>
                </a:solidFill>
                <a:latin typeface="Arial"/>
                <a:ea typeface="Arial"/>
                <a:cs typeface="Arial"/>
              </a:defRPr>
            </a:lvl1pPr>
            <a:lvl2pPr>
              <a:defRPr sz="1200" b="0">
                <a:solidFill>
                  <a:srgbClr val="61745D"/>
                </a:solidFill>
                <a:latin typeface="Arial"/>
                <a:ea typeface="Arial"/>
                <a:cs typeface="Arial"/>
              </a:defRPr>
            </a:lvl2pPr>
            <a:lvl3pPr>
              <a:defRPr sz="1200" b="0">
                <a:solidFill>
                  <a:srgbClr val="61745D"/>
                </a:solidFill>
                <a:latin typeface="Arial"/>
                <a:ea typeface="Arial"/>
                <a:cs typeface="Arial"/>
              </a:defRPr>
            </a:lvl3pPr>
            <a:lvl4pPr>
              <a:defRPr sz="1200" b="0">
                <a:solidFill>
                  <a:srgbClr val="61745D"/>
                </a:solidFill>
                <a:latin typeface="Arial"/>
                <a:ea typeface="Arial"/>
                <a:cs typeface="Arial"/>
              </a:defRPr>
            </a:lvl4pPr>
            <a:lvl5pPr>
              <a:defRPr sz="1200" b="0">
                <a:solidFill>
                  <a:srgbClr val="61745D"/>
                </a:solidFill>
                <a:latin typeface="Arial"/>
                <a:ea typeface="Arial"/>
                <a:cs typeface="Arial"/>
              </a:defRPr>
            </a:lvl5pPr>
            <a:lvl6pPr>
              <a:defRPr sz="1200" b="0">
                <a:solidFill>
                  <a:srgbClr val="61745D"/>
                </a:solidFill>
                <a:latin typeface="Arial"/>
                <a:ea typeface="Arial"/>
                <a:cs typeface="Arial"/>
              </a:defRPr>
            </a:lvl6pPr>
            <a:lvl7pPr>
              <a:defRPr sz="1200" b="0">
                <a:solidFill>
                  <a:srgbClr val="61745D"/>
                </a:solidFill>
                <a:latin typeface="Arial"/>
                <a:ea typeface="Arial"/>
                <a:cs typeface="Arial"/>
              </a:defRPr>
            </a:lvl7pPr>
            <a:lvl8pPr>
              <a:defRPr sz="1200" b="0">
                <a:solidFill>
                  <a:srgbClr val="61745D"/>
                </a:solidFill>
                <a:latin typeface="Arial"/>
                <a:ea typeface="Arial"/>
                <a:cs typeface="Arial"/>
              </a:defRPr>
            </a:lvl8pPr>
            <a:lvl9pPr>
              <a:defRPr sz="1200" b="0">
                <a:solidFill>
                  <a:srgbClr val="61745D"/>
                </a:solidFill>
                <a:latin typeface="Arial"/>
                <a:ea typeface="Arial"/>
                <a:cs typeface="Arial"/>
              </a:defRPr>
            </a:lvl9pPr>
          </a:lstStyle>
          <a:p xmlns:a="http://schemas.openxmlformats.org/drawingml/2006/main">
            <a:pPr>
              <a:defRPr sz="1200" b="0">
                <a:solidFill>
                  <a:srgbClr val="61745D"/>
                </a:solidFill>
                <a:latin typeface="Arial"/>
                <a:ea typeface="Arial"/>
                <a:cs typeface="Arial"/>
              </a:defRPr>
            </a:pPr>
            <a:r>
              <a:rPr sz="1200" b="0">
                <a:solidFill>
                  <a:srgbClr val="61745D"/>
                </a:solidFill>
                <a:latin typeface="Arial"/>
                <a:ea typeface="Arial"/>
                <a:cs typeface="Arial"/>
              </a:rPr>
              <a:t>MẠCH / BTL1                                       12</a:t>
            </a:r>
          </a:p>
        </p:txBody>
      </p:sp>
      <p:sp>
        <p:nvSpPr>
          <p:cNvPr id="3" name="">
            <a:extLst xmlns:a="http://schemas.openxmlformats.org/drawingml/2006/main">
              <a:ext uri="{FF2B5EF4-FFF2-40B4-BE49-F238E27FC236}">
                <a16:creationId xmlns:a16="http://schemas.microsoft.com/office/drawing/2014/main" id="{0BBD1DD6-353A-4ECF-A25F-6D307CA71798}"/>
              </a:ext>
            </a:extLst>
          </p:cNvPr>
          <p:cNvSpPr>
            <a:spLocks xmlns:a="http://schemas.openxmlformats.org/drawingml/2006/main" noGrp="1"/>
          </p:cNvSpPr>
          <p:nvPr/>
        </p:nvSpPr>
        <p:spPr>
          <a:xfrm xmlns:a="http://schemas.openxmlformats.org/drawingml/2006/main">
            <a:off x="609600" y="1619250"/>
            <a:ext cx="109728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47 test Python · 800 đối chiếu luật Python/JavaScript</a:t>
            </a:r>
          </a:p>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Chromium: 16 demo, bàn phím, gợi ý, lưu tiến độ, 4 cỡ màn.</a:t>
            </a:r>
          </a:p>
        </p:txBody>
      </p:sp>
      <p:sp>
        <p:nvSpPr>
          <p:cNvPr id="4" name="">
            <a:extLst xmlns:a="http://schemas.openxmlformats.org/drawingml/2006/main">
              <a:ext uri="{FF2B5EF4-FFF2-40B4-BE49-F238E27FC236}">
                <a16:creationId xmlns:a16="http://schemas.microsoft.com/office/drawing/2014/main" id="{611E2F74-C442-4C70-8E5F-2B19FCA3670A}"/>
              </a:ext>
            </a:extLst>
          </p:cNvPr>
          <p:cNvSpPr>
            <a:spLocks xmlns:a="http://schemas.openxmlformats.org/drawingml/2006/main" noGrp="1"/>
          </p:cNvSpPr>
          <p:nvPr/>
        </p:nvSpPr>
        <p:spPr>
          <a:xfrm xmlns:a="http://schemas.openxmlformats.org/drawingml/2006/main">
            <a:off x="609600" y="3000375"/>
            <a:ext cx="109728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Demo: Pipes → DFS / Greedy → bước xét / lời giải</a:t>
            </a:r>
          </a:p>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Light Up 3×3 → đặt đèn cạnh số 0 → gợi ý sửa → giải tiếp.</a:t>
            </a:r>
          </a:p>
        </p:txBody>
      </p:sp>
      <p:sp>
        <p:nvSpPr>
          <p:cNvPr id="5" name="">
            <a:extLst xmlns:a="http://schemas.openxmlformats.org/drawingml/2006/main">
              <a:ext uri="{FF2B5EF4-FFF2-40B4-BE49-F238E27FC236}">
                <a16:creationId xmlns:a16="http://schemas.microsoft.com/office/drawing/2014/main" id="{4560027E-C51B-401C-AD5D-FCF289B4FC03}"/>
              </a:ext>
            </a:extLst>
          </p:cNvPr>
          <p:cNvSpPr>
            <a:spLocks xmlns:a="http://schemas.openxmlformats.org/drawingml/2006/main" noGrp="1"/>
          </p:cNvSpPr>
          <p:nvPr/>
        </p:nvSpPr>
        <p:spPr>
          <a:xfrm xmlns:a="http://schemas.openxmlformats.org/drawingml/2006/main">
            <a:off x="609600" y="4381500"/>
            <a:ext cx="109728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03D35"/>
                </a:solidFill>
                <a:latin typeface="Arial"/>
                <a:ea typeface="Arial"/>
                <a:cs typeface="Arial"/>
              </a:defRPr>
            </a:defPPr>
            <a:lvl1pPr>
              <a:defRPr sz="2175" b="0">
                <a:solidFill>
                  <a:srgbClr val="203D35"/>
                </a:solidFill>
                <a:latin typeface="Arial"/>
                <a:ea typeface="Arial"/>
                <a:cs typeface="Arial"/>
              </a:defRPr>
            </a:lvl1pPr>
            <a:lvl2pPr>
              <a:defRPr sz="2175" b="0">
                <a:solidFill>
                  <a:srgbClr val="203D35"/>
                </a:solidFill>
                <a:latin typeface="Arial"/>
                <a:ea typeface="Arial"/>
                <a:cs typeface="Arial"/>
              </a:defRPr>
            </a:lvl2pPr>
            <a:lvl3pPr>
              <a:defRPr sz="2175" b="0">
                <a:solidFill>
                  <a:srgbClr val="203D35"/>
                </a:solidFill>
                <a:latin typeface="Arial"/>
                <a:ea typeface="Arial"/>
                <a:cs typeface="Arial"/>
              </a:defRPr>
            </a:lvl3pPr>
            <a:lvl4pPr>
              <a:defRPr sz="2175" b="0">
                <a:solidFill>
                  <a:srgbClr val="203D35"/>
                </a:solidFill>
                <a:latin typeface="Arial"/>
                <a:ea typeface="Arial"/>
                <a:cs typeface="Arial"/>
              </a:defRPr>
            </a:lvl4pPr>
            <a:lvl5pPr>
              <a:defRPr sz="2175" b="0">
                <a:solidFill>
                  <a:srgbClr val="203D35"/>
                </a:solidFill>
                <a:latin typeface="Arial"/>
                <a:ea typeface="Arial"/>
                <a:cs typeface="Arial"/>
              </a:defRPr>
            </a:lvl5pPr>
            <a:lvl6pPr>
              <a:defRPr sz="2175" b="0">
                <a:solidFill>
                  <a:srgbClr val="203D35"/>
                </a:solidFill>
                <a:latin typeface="Arial"/>
                <a:ea typeface="Arial"/>
                <a:cs typeface="Arial"/>
              </a:defRPr>
            </a:lvl6pPr>
            <a:lvl7pPr>
              <a:defRPr sz="2175" b="0">
                <a:solidFill>
                  <a:srgbClr val="203D35"/>
                </a:solidFill>
                <a:latin typeface="Arial"/>
                <a:ea typeface="Arial"/>
                <a:cs typeface="Arial"/>
              </a:defRPr>
            </a:lvl7pPr>
            <a:lvl8pPr>
              <a:defRPr sz="2175" b="0">
                <a:solidFill>
                  <a:srgbClr val="203D35"/>
                </a:solidFill>
                <a:latin typeface="Arial"/>
                <a:ea typeface="Arial"/>
                <a:cs typeface="Arial"/>
              </a:defRPr>
            </a:lvl8pPr>
            <a:lvl9pPr>
              <a:defRPr sz="2175" b="0">
                <a:solidFill>
                  <a:srgbClr val="203D35"/>
                </a:solidFill>
                <a:latin typeface="Arial"/>
                <a:ea typeface="Arial"/>
                <a:cs typeface="Arial"/>
              </a:defRPr>
            </a:lvl9pPr>
          </a:lstStyle>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Giới hạn: bộ sinh có nghiệm, không chứng minh duy nhất;</a:t>
            </a:r>
          </a:p>
          <a:p xmlns:a="http://schemas.openxmlformats.org/drawingml/2006/main">
            <a:pPr>
              <a:defRPr sz="2175" b="0">
                <a:solidFill>
                  <a:srgbClr val="203D35"/>
                </a:solidFill>
                <a:latin typeface="Arial"/>
                <a:ea typeface="Arial"/>
                <a:cs typeface="Arial"/>
              </a:defRPr>
            </a:pPr>
            <a:r>
              <a:rPr sz="2175" b="0">
                <a:solidFill>
                  <a:srgbClr val="203D35"/>
                </a:solidFill>
                <a:latin typeface="Arial"/>
                <a:ea typeface="Arial"/>
                <a:cs typeface="Arial"/>
              </a:rPr>
              <a:t>không tối ưu thao tác; chưa kiểm Safari/Firefox/cảm ứng.</a:t>
            </a:r>
          </a:p>
        </p:txBody>
      </p:sp>
    </p:spTree>
    <p:extLst>
      <p:ext uri="{BB962C8B-B14F-4D97-AF65-F5344CB8AC3E}">
        <p14:creationId xmlns:p14="http://schemas.microsoft.com/office/powerpoint/2010/main" val="14221724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2026-10-25T13:56:44.8570000Z</dcterms:created>
  <dcterms:modified xsi:type="dcterms:W3CDTF">2026-10-25T13:56:44.8570000Z</dcterms:modified>
</coreProperties>
</file>